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0" r:id="rId6"/>
    <p:sldId id="261" r:id="rId7"/>
    <p:sldId id="262" r:id="rId8"/>
    <p:sldId id="264" r:id="rId10"/>
    <p:sldId id="265" r:id="rId11"/>
    <p:sldId id="266" r:id="rId12"/>
    <p:sldId id="267" r:id="rId13"/>
    <p:sldId id="268" r:id="rId14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482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20초 | 핵심: 프로젝트 이름과 한 줄 소개</a:t>
            </a:r>
          </a:p>
          <a:p/>
          <a:p>
            <a:r>
              <a:t>안녕하세요, 환일고등학교 '환일야호' 팀입니다.</a:t>
            </a:r>
          </a:p>
          <a:p>
            <a:r>
              <a:t>저희 프로젝트 이름은 '길터'입니다. '길을 트다'에서 따왔습니다.</a:t>
            </a:r>
          </a:p>
          <a:p>
            <a:r>
              <a:t>사진 한 장으로 불법 주정차인지 판별하고, 올바른 신고를 돕는 웹입니다.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20초 | 핵심: 세 명, 역할 분담</a:t>
            </a:r>
          </a:p>
          <a:p/>
          <a:p>
            <a:r>
              <a:t>저희 팀은 1학년 세 명입니다.</a:t>
            </a:r>
          </a:p>
          <a:p>
            <a:r>
              <a:t>임채준이 팀장과 개발, 서한은이 디자인, 강동윤이 기획을 맡았습니다.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50초 | 핵심: 불법 주정차는 보행자와 소방관의 길을 막는다</a:t>
            </a:r>
          </a:p>
          <a:p/>
          <a:p>
            <a:r>
              <a:t>먼저 문제입니다. 불법 주정차 때문에 피해를 보는 사람은 크게 둘입니다.</a:t>
            </a:r>
          </a:p>
          <a:p>
            <a:r>
              <a:t>첫째, 보행자입니다. 횡단보도나 인도 주변에 세운 차가 시야를 가려 사고 위험이 커집니다.</a:t>
            </a:r>
          </a:p>
          <a:p>
            <a:r>
              <a:t>둘째, 소방관입니다. 좁은 골목이나 소화전 앞 주차는 소방차 진입을 막습니다.</a:t>
            </a:r>
          </a:p>
          <a:p>
            <a:r>
              <a:t>그런데 기존 신고 앱은 접수만 받기 때문에, 이게 신고 대상인지는 시민이 직접 판단해야 합니다.</a:t>
            </a:r>
          </a:p>
          <a:p>
            <a:r>
              <a:t>(다음) 그래서 저희는 판단을 도와주는 서비스를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30초 | 핵심: 찍고 → 판별하고 → 안내한다</a:t>
            </a:r>
          </a:p>
          <a:p/>
          <a:p>
            <a:r>
              <a:t>사용 방법은 딱 세 단계입니다.</a:t>
            </a:r>
          </a:p>
          <a:p>
            <a:r>
              <a:t>사진을 찍으면, AI가 판별하고, 신고 방법까지 안내합니다.</a:t>
            </a:r>
          </a:p>
          <a:p>
            <a:r>
              <a:t>판별할 때는 확신도와 함께 'AI가 왜 그렇게 판단했는지' 근거도 보여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30초 | 핵심: 위반 3가지 + 정상 1가지</a:t>
            </a:r>
          </a:p>
          <a:p/>
          <a:p>
            <a:r>
              <a:t>AI는 사진을 네 가지로 나눕니다.</a:t>
            </a:r>
          </a:p>
          <a:p>
            <a:r>
              <a:t>횡단보도 위, 인도 위, 소화전 주변은 위반이고, 나머지는 정상 주차입니다.</a:t>
            </a:r>
          </a:p>
          <a:p>
            <a:r>
              <a:t>유형마다 위험한 이유가 다르기 때문에, 유형에 맞는 안내를 따로 보여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40초 | 핵심: 사진은 화면 → 서버 → AI를 거쳐 결과로 돌아온다</a:t>
            </a:r>
          </a:p>
          <a:p/>
          <a:p>
            <a:r>
              <a:t>사진 한 장이 지나가는 길입니다.</a:t>
            </a:r>
          </a:p>
          <a:p>
            <a:r>
              <a:t>화면에서 찍은 사진을 서버로 보내면, 서버가 AI에게 판별을 맡깁니다.</a:t>
            </a:r>
          </a:p>
          <a:p>
            <a:r>
              <a:t>확신도가 낮으면 다시 찍도록 안내하고, 결과가 나오면 신고 요건을 확인합니다.</a:t>
            </a:r>
          </a:p>
          <a:p>
            <a:r>
              <a:t>마지막으로 서버에 기록을 저장하는데, 사진은 저장하지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40초 | 핵심: 화면은 React, 서버는 Spring Boot, AI는 NVIDIA의 생성형 AI</a:t>
            </a:r>
          </a:p>
          <a:p/>
          <a:p>
            <a:r>
              <a:t>실제로 만든 구조입니다.</a:t>
            </a:r>
          </a:p>
          <a:p>
            <a:r>
              <a:t>화면은 React, 서버는 Spring Boot로 만들었습니다.</a:t>
            </a:r>
          </a:p>
          <a:p>
            <a:r>
              <a:t>원래는 직접 학습한 모델을 쓸 계획이었는데, 사진을 모으는 데 시간이 걸려서</a:t>
            </a:r>
          </a:p>
          <a:p>
            <a:r>
              <a:t>지금은 NVIDIA의 생성형 AI로 아이디어가 맞는지 먼저 확인했습니다.</a:t>
            </a:r>
          </a:p>
          <a:p>
            <a:r>
              <a:t>인터넷이 끊겨도 시연할 수 있게 비상 모드도 넣었습니다.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50초 | 핵심: 숫자로 보면 위험이 와닿는다</a:t>
            </a:r>
          </a:p>
          <a:p/>
          <a:p>
            <a:r>
              <a:t>불법 주정차가 얼마나 위험한지 숫자로 보면 이렇습니다.</a:t>
            </a:r>
          </a:p>
          <a:p>
            <a:r>
              <a:t>인도 위에 차를 세우면 남는 폭이 0.2미터라, 휠체어가 지나갈 수 없습니다.</a:t>
            </a:r>
          </a:p>
          <a:p>
            <a:r>
              <a:t>시속 30킬로미터 차도 멈추는 데 약 30미터가 필요합니다.</a:t>
            </a:r>
          </a:p>
          <a:p>
            <a:r>
              <a:t>인도가 막히면 교통약자는 약 8초 동안 차도를 걸어야 합니다.</a:t>
            </a:r>
          </a:p>
          <a:p>
            <a:r>
              <a:t>소화전 5미터 이내 주차는 법으로 금지되어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1분 30초 | 핵심: 실제 화면으로 시연</a:t>
            </a:r>
          </a:p>
          <a:p/>
          <a:p>
            <a:r>
              <a:t>이제 실제 화면을 보여 드리겠습니다.</a:t>
            </a:r>
          </a:p>
          <a:p>
            <a:r>
              <a:t>[시연] 브라우저로 넘어가서 → 사진 올리기 → 판별하기 → 결과와 판단 근거 → 신고 방법 순서로 보여 줍니다.</a:t>
            </a:r>
          </a:p>
          <a:p>
            <a:r>
              <a:t>[비상] 인터넷이나 AI가 안 되면 주소 끝에 ?mock=CROSSWALK 를 붙여서 시연합니다.</a:t>
            </a:r>
          </a:p>
          <a:p>
            <a:r>
              <a:t>(돌아와서) 확신도가 40% 미만이면 결과 대신 다시 찍으라고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40초 | 핵심: 틀릴 수 있는 곳을 미리 막았다</a:t>
            </a:r>
          </a:p>
          <a:p/>
          <a:p>
            <a:r>
              <a:t>저희가 예상한 오류와 대응입니다.</a:t>
            </a:r>
          </a:p>
          <a:p>
            <a:r>
              <a:t>AI가 틀릴 수 있어서 확률과 근거를 함께 보여 줍니다.</a:t>
            </a:r>
          </a:p>
          <a:p>
            <a:r>
              <a:t>AI 응답이 느리거나 실패하면 다시 시도하도록 안내합니다.</a:t>
            </a:r>
          </a:p>
          <a:p>
            <a:r>
              <a:t>사진만으로 알 수 없는 거리나 시간은 체크리스트로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30초 | 핵심: 직접 학습한 모델로 바꾸고, 판별 유형을 늘린다</a:t>
            </a:r>
          </a:p>
          <a:p/>
          <a:p>
            <a:r>
              <a:t>앞으로의 계획은 두 가지입니다.</a:t>
            </a:r>
          </a:p>
          <a:p>
            <a:r>
              <a:t>첫째, 직접 모은 모형과 실제 사진으로 모델을 학습해서, 사진이 기기 밖으로 나가지 않게 바꿀 겁니다.</a:t>
            </a:r>
          </a:p>
          <a:p>
            <a:r>
              <a:t>둘째, 점자블록 위, 버스정류장 앞, 교차로 모퉁이를 더해 일곱 가지까지 판별하도록 늘릴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20초 | 핵심: 누구나 신고 대상인지 바로 안다</a:t>
            </a:r>
          </a:p>
          <a:p/>
          <a:p>
            <a:r>
              <a:t>길터가 있으면 누구나 신고 대상인지 바로 알 수 있습니다.</a:t>
            </a:r>
          </a:p>
          <a:p>
            <a:r>
              <a:t>올바른 신고는 늘고, 잘못된 신고는 줄어듭니다.</a:t>
            </a:r>
          </a:p>
          <a:p>
            <a:r>
              <a:t>들어 주셔서 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A1D2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32944"/>
            <a:ext cx="10566400" cy="411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A1D2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32944"/>
            <a:ext cx="10566400" cy="411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10000"/>
                </a:srgbClr>
              </a:gs>
              <a:gs pos="50000">
                <a:srgbClr val="FFFFFF">
                  <a:alpha val="10000"/>
                </a:srgbClr>
              </a:gs>
              <a:gs pos="50000">
                <a:srgbClr val="172E6E">
                  <a:alpha val="10000"/>
                </a:srgbClr>
              </a:gs>
              <a:gs pos="100000">
                <a:srgbClr val="172E6E">
                  <a:alpha val="10000"/>
                </a:srgbClr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61036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100" dirty="0">
                <a:solidFill>
                  <a:srgbClr val="A9BE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AI동행 프로젝트 · 자율탐구</a:t>
            </a:r>
            <a:endParaRPr lang="en-US" sz="16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148840"/>
            <a:ext cx="10883392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0"/>
              </a:lnSpc>
              <a:buNone/>
            </a:pPr>
            <a:r>
              <a:rPr lang="ko-KR" altLang="en-US" sz="12000" dirty="0">
                <a:solidFill>
                  <a:srgbClr val="FFFFFF"/>
                </a:solidFill>
              </a:rPr>
              <a:t>길터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12800" y="3926840"/>
            <a:ext cx="719455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불법</a:t>
            </a:r>
            <a:r>
              <a:rPr lang="en-US" sz="2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주정차를 </a:t>
            </a:r>
            <a:r>
              <a:rPr lang="en-US" sz="2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판별하고</a:t>
            </a:r>
            <a:r>
              <a:rPr lang="en-US" sz="2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en-US" sz="2200" dirty="0"/>
              <a:t> </a:t>
            </a:r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막힌</a:t>
            </a:r>
            <a:r>
              <a:rPr lang="en-US" sz="2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길을 다시 여는 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496316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D5DC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환일 야호 · 환일고등학교 · Vision AI 융합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">
            <a:extLst>
              <a:ext uri="{FF2B5EF4-FFF2-40B4-BE49-F238E27FC236}">
                <a16:creationId xmlns:a16="http://schemas.microsoft.com/office/drawing/2014/main" id="{1AA617A8-E2F8-4343-94B4-355AE4B9AA9E}"/>
              </a:ext>
            </a:extLst>
          </p:cNvPr>
          <p:cNvSpPr/>
          <p:nvPr/>
        </p:nvSpPr>
        <p:spPr>
          <a:xfrm>
            <a:off x="789026" y="2002790"/>
            <a:ext cx="3380740" cy="1455420"/>
          </a:xfrm>
          <a:prstGeom prst="roundRect">
            <a:avLst>
              <a:gd name="adj" fmla="val 10035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팀 기본 정보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ko-KR" altLang="en-US" sz="3600" b="0" i="0" dirty="0">
                <a:solidFill>
                  <a:srgbClr val="1A1D2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팀원</a:t>
            </a:r>
            <a:r>
              <a:rPr lang="en-US" sz="3600" b="0" i="0" dirty="0">
                <a:solidFill>
                  <a:srgbClr val="1A1D2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</a:t>
            </a:r>
            <a:r>
              <a:rPr lang="en-US" sz="3600" b="0" i="0" dirty="0" err="1">
                <a:solidFill>
                  <a:srgbClr val="1A1D2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소개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17600" y="2288540"/>
            <a:ext cx="28464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 · 개발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7600" y="2578100"/>
            <a:ext cx="2846426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임채준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395470" y="1990090"/>
            <a:ext cx="3380740" cy="1455420"/>
          </a:xfrm>
          <a:prstGeom prst="roundRect">
            <a:avLst>
              <a:gd name="adj" fmla="val 10035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4080" y="2298700"/>
            <a:ext cx="28464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4080" y="2588260"/>
            <a:ext cx="2846426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solidFill>
                  <a:srgbClr val="1A1D2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서한은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7992110" y="1990090"/>
            <a:ext cx="3380740" cy="1455420"/>
          </a:xfrm>
          <a:prstGeom prst="roundRect">
            <a:avLst>
              <a:gd name="adj" fmla="val 10035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0720" y="2298700"/>
            <a:ext cx="28464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00720" y="2588260"/>
            <a:ext cx="2846426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solidFill>
                  <a:srgbClr val="1A1D2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강동윤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12800" y="3807460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4071620"/>
            <a:ext cx="2616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환일고등학교 1학년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56000" y="3807460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구분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56000" y="4071620"/>
            <a:ext cx="2616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Vision AI 융합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99200" y="3807460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소개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99200" y="4071620"/>
            <a:ext cx="52324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사진으로 불법 주정차인지 판별해서 신고를 도와주는 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kern="0" spc="100" dirty="0">
                <a:solidFill>
                  <a:srgbClr val="FFB2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기획 배경 및 문제 정의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가려진 보행자, 막힌 소방차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83739"/>
            <a:ext cx="3386693" cy="3197860"/>
          </a:xfrm>
          <a:prstGeom prst="roundRect">
            <a:avLst>
              <a:gd name="adj" fmla="val 4766"/>
            </a:avLst>
          </a:prstGeom>
          <a:solidFill>
            <a:srgbClr val="2B4A9E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83739"/>
            <a:ext cx="3386693" cy="3197860"/>
          </a:xfrm>
          <a:custGeom>
            <a:avLst/>
            <a:gdLst/>
            <a:ahLst/>
            <a:cxnLst/>
            <a:rect l="l" t="t" r="r" b="b"/>
            <a:pathLst>
              <a:path w="3386693" h="31978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3234293" y="0"/>
                </a:lnTo>
                <a:arcTo wR="152400" hR="152400" stAng="16200000" swAng="5400000"/>
                <a:lnTo>
                  <a:pt x="3386693" y="152400"/>
                </a:lnTo>
                <a:arcTo wR="152400" hR="101600" stAng="0" swAng="-5400000"/>
                <a:lnTo>
                  <a:pt x="152400" y="50800"/>
                </a:lnTo>
                <a:arcTo wR="152400" hR="101600" stAng="16200000" swAng="-5400000"/>
                <a:close/>
              </a:path>
            </a:pathLst>
          </a:custGeom>
          <a:solidFill>
            <a:srgbClr val="F76B15"/>
          </a:solidFill>
          <a:ln/>
        </p:spPr>
      </p:sp>
      <p:sp>
        <p:nvSpPr>
          <p:cNvPr id="6" name="Text 4"/>
          <p:cNvSpPr/>
          <p:nvPr/>
        </p:nvSpPr>
        <p:spPr>
          <a:xfrm>
            <a:off x="1117600" y="2339339"/>
            <a:ext cx="28604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B2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이동약자 ① 보행자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600" y="2679700"/>
            <a:ext cx="286040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시야가 가려 사고 위험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7600" y="3136900"/>
            <a:ext cx="286040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D5DC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횡단보도·인도 주변 주차가 보행자와 운전자의 시야를 가립니다.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02693" y="1983739"/>
            <a:ext cx="3386693" cy="3197860"/>
          </a:xfrm>
          <a:prstGeom prst="roundRect">
            <a:avLst>
              <a:gd name="adj" fmla="val 4766"/>
            </a:avLst>
          </a:prstGeom>
          <a:solidFill>
            <a:srgbClr val="2B4A9E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693" y="1983739"/>
            <a:ext cx="3386693" cy="3197860"/>
          </a:xfrm>
          <a:custGeom>
            <a:avLst/>
            <a:gdLst/>
            <a:ahLst/>
            <a:cxnLst/>
            <a:rect l="l" t="t" r="r" b="b"/>
            <a:pathLst>
              <a:path w="3386693" h="31978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3234293" y="0"/>
                </a:lnTo>
                <a:arcTo wR="152400" hR="152400" stAng="16200000" swAng="5400000"/>
                <a:lnTo>
                  <a:pt x="3386693" y="152400"/>
                </a:lnTo>
                <a:arcTo wR="152400" hR="101600" stAng="0" swAng="-5400000"/>
                <a:lnTo>
                  <a:pt x="152400" y="50800"/>
                </a:lnTo>
                <a:arcTo wR="152400" hR="101600" stAng="16200000" swAng="-5400000"/>
                <a:close/>
              </a:path>
            </a:pathLst>
          </a:custGeom>
          <a:solidFill>
            <a:srgbClr val="F76B15"/>
          </a:solidFill>
          <a:ln/>
        </p:spPr>
      </p:sp>
      <p:sp>
        <p:nvSpPr>
          <p:cNvPr id="11" name="Text 9"/>
          <p:cNvSpPr/>
          <p:nvPr/>
        </p:nvSpPr>
        <p:spPr>
          <a:xfrm>
            <a:off x="4707493" y="2339339"/>
            <a:ext cx="28604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B2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이동약자 ② 소방관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7493" y="2679700"/>
            <a:ext cx="286040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화재 구역 진입 방해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7493" y="3136900"/>
            <a:ext cx="286040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D5DC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좁은 골목·소화전 앞 주차가 소방차 진입을 막습니다.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92587" y="1983739"/>
            <a:ext cx="3386693" cy="3197860"/>
          </a:xfrm>
          <a:prstGeom prst="roundRect">
            <a:avLst>
              <a:gd name="adj" fmla="val 4766"/>
            </a:avLst>
          </a:prstGeom>
          <a:solidFill>
            <a:srgbClr val="2B4A9E"/>
          </a:solidFill>
          <a:ln/>
        </p:spPr>
      </p:sp>
      <p:sp>
        <p:nvSpPr>
          <p:cNvPr id="15" name="Shape 13"/>
          <p:cNvSpPr/>
          <p:nvPr/>
        </p:nvSpPr>
        <p:spPr>
          <a:xfrm>
            <a:off x="7992587" y="1983739"/>
            <a:ext cx="3386693" cy="3197860"/>
          </a:xfrm>
          <a:custGeom>
            <a:avLst/>
            <a:gdLst/>
            <a:ahLst/>
            <a:cxnLst/>
            <a:rect l="l" t="t" r="r" b="b"/>
            <a:pathLst>
              <a:path w="3386693" h="31978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3234293" y="0"/>
                </a:lnTo>
                <a:arcTo wR="152400" hR="152400" stAng="16200000" swAng="5400000"/>
                <a:lnTo>
                  <a:pt x="3386693" y="152400"/>
                </a:lnTo>
                <a:arcTo wR="152400" hR="101600" stAng="0" swAng="-5400000"/>
                <a:lnTo>
                  <a:pt x="152400" y="50800"/>
                </a:lnTo>
                <a:arcTo wR="152400" hR="101600" stAng="16200000" swAng="-5400000"/>
                <a:close/>
              </a:path>
            </a:pathLst>
          </a:custGeom>
          <a:solidFill>
            <a:srgbClr val="A9BEEB"/>
          </a:solidFill>
          <a:ln/>
        </p:spPr>
      </p:sp>
      <p:sp>
        <p:nvSpPr>
          <p:cNvPr id="16" name="Text 14"/>
          <p:cNvSpPr/>
          <p:nvPr/>
        </p:nvSpPr>
        <p:spPr>
          <a:xfrm>
            <a:off x="8297387" y="2339339"/>
            <a:ext cx="28604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9BE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신고 앱의 한계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97387" y="2679700"/>
            <a:ext cx="286040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판단은 신고자 몫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97387" y="3136900"/>
            <a:ext cx="286040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D5DC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접수 중심이라 신고 대상인지는 시민이 직접 판단해야 합니다.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800" y="55372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B2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의도</a:t>
            </a: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불법 주정차로 생기는 보행자 사고와 소방 진입 문제를 최소화한다.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dirty="0">
                <a:solidFill>
                  <a:srgbClr val="AFBB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03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핵심 기능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1A1D2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사진 한 장이면, 판별부터 신고 안내까지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990089"/>
            <a:ext cx="3187700" cy="3845560"/>
          </a:xfrm>
          <a:prstGeom prst="roundRect">
            <a:avLst>
              <a:gd name="adj" fmla="val 4582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7760" y="2298700"/>
            <a:ext cx="264759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1E3A8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27760" y="2882900"/>
            <a:ext cx="264759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촬영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7760" y="3345182"/>
            <a:ext cx="264759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주차된 차량과 주변 바닥이 함께 담긴 사진을 올립니다.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3717289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9AA1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02150" y="1990089"/>
            <a:ext cx="3187700" cy="3845560"/>
          </a:xfrm>
          <a:prstGeom prst="roundRect">
            <a:avLst>
              <a:gd name="adj" fmla="val 4582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0760" y="2298700"/>
            <a:ext cx="264759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1E3A8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810760" y="2882900"/>
            <a:ext cx="264759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10760" y="3345182"/>
            <a:ext cx="2647595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4가지 유형으로 나누고 확신도와 판단 근거를 보여 줍니다.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97800" y="3717289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9AA1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185150" y="1990089"/>
            <a:ext cx="3187700" cy="3845560"/>
          </a:xfrm>
          <a:prstGeom prst="roundRect">
            <a:avLst>
              <a:gd name="adj" fmla="val 4582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93760" y="2298700"/>
            <a:ext cx="264759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1E3A8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493760" y="2882900"/>
            <a:ext cx="264759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안내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93760" y="3345182"/>
            <a:ext cx="2647595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위험한 이유, 신고 요건 체크리스트, 안전신문고 신고 방법을 안내합니다.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04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핵심 기능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1A1D2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AI가 구분하는 4가지 유형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83739"/>
            <a:ext cx="2489200" cy="385826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83739"/>
            <a:ext cx="2489200" cy="3858260"/>
          </a:xfrm>
          <a:custGeom>
            <a:avLst/>
            <a:gdLst/>
            <a:ahLst/>
            <a:cxnLst/>
            <a:rect l="l" t="t" r="r" b="b"/>
            <a:pathLst>
              <a:path w="2489200" h="38582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2336800" y="0"/>
                </a:lnTo>
                <a:arcTo wR="152400" hR="152400" stAng="16200000" swAng="5400000"/>
                <a:lnTo>
                  <a:pt x="2489200" y="152400"/>
                </a:lnTo>
                <a:arcTo wR="152400" hR="76200" stAng="0" swAng="-5400000"/>
                <a:lnTo>
                  <a:pt x="152400" y="76200"/>
                </a:lnTo>
                <a:arcTo wR="152400" hR="76200" stAng="16200000" swAng="-5400000"/>
                <a:close/>
              </a:path>
            </a:pathLst>
          </a:custGeom>
          <a:solidFill>
            <a:srgbClr val="E5484D"/>
          </a:solidFill>
          <a:ln/>
        </p:spPr>
      </p:sp>
      <p:sp>
        <p:nvSpPr>
          <p:cNvPr id="6" name="Text 4"/>
          <p:cNvSpPr/>
          <p:nvPr/>
        </p:nvSpPr>
        <p:spPr>
          <a:xfrm>
            <a:off x="1092200" y="2339339"/>
            <a:ext cx="19883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229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2200" y="2679700"/>
            <a:ext cx="198831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횡단보도</a:t>
            </a:r>
            <a:r>
              <a:rPr lang="en-US" sz="22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2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2200" y="3155950"/>
            <a:ext cx="198831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보행자와 운전자의 시야를 가림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05200" y="1983739"/>
            <a:ext cx="2489200" cy="385826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505200" y="1983739"/>
            <a:ext cx="2489200" cy="3858260"/>
          </a:xfrm>
          <a:custGeom>
            <a:avLst/>
            <a:gdLst/>
            <a:ahLst/>
            <a:cxnLst/>
            <a:rect l="l" t="t" r="r" b="b"/>
            <a:pathLst>
              <a:path w="2489200" h="38582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2336800" y="0"/>
                </a:lnTo>
                <a:arcTo wR="152400" hR="152400" stAng="16200000" swAng="5400000"/>
                <a:lnTo>
                  <a:pt x="2489200" y="152400"/>
                </a:lnTo>
                <a:arcTo wR="152400" hR="76200" stAng="0" swAng="-5400000"/>
                <a:lnTo>
                  <a:pt x="152400" y="76200"/>
                </a:lnTo>
                <a:arcTo wR="152400" hR="76200" stAng="16200000" swAng="-5400000"/>
                <a:close/>
              </a:path>
            </a:pathLst>
          </a:custGeom>
          <a:solidFill>
            <a:srgbClr val="E5484D"/>
          </a:solidFill>
          <a:ln/>
        </p:spPr>
      </p:sp>
      <p:sp>
        <p:nvSpPr>
          <p:cNvPr id="11" name="Text 9"/>
          <p:cNvSpPr/>
          <p:nvPr/>
        </p:nvSpPr>
        <p:spPr>
          <a:xfrm>
            <a:off x="3784600" y="2339339"/>
            <a:ext cx="19883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229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84600" y="2679700"/>
            <a:ext cx="198831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인도 위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84600" y="3155950"/>
            <a:ext cx="198831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휠체어·유모차가 지나갈 폭을 막음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7600" y="1983739"/>
            <a:ext cx="2489200" cy="385826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7600" y="1983739"/>
            <a:ext cx="2489200" cy="3858260"/>
          </a:xfrm>
          <a:custGeom>
            <a:avLst/>
            <a:gdLst/>
            <a:ahLst/>
            <a:cxnLst/>
            <a:rect l="l" t="t" r="r" b="b"/>
            <a:pathLst>
              <a:path w="2489200" h="38582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2336800" y="0"/>
                </a:lnTo>
                <a:arcTo wR="152400" hR="152400" stAng="16200000" swAng="5400000"/>
                <a:lnTo>
                  <a:pt x="2489200" y="152400"/>
                </a:lnTo>
                <a:arcTo wR="152400" hR="76200" stAng="0" swAng="-5400000"/>
                <a:lnTo>
                  <a:pt x="152400" y="76200"/>
                </a:lnTo>
                <a:arcTo wR="152400" hR="76200" stAng="16200000" swAng="-5400000"/>
                <a:close/>
              </a:path>
            </a:pathLst>
          </a:custGeom>
          <a:solidFill>
            <a:srgbClr val="E5484D"/>
          </a:solidFill>
          <a:ln/>
        </p:spPr>
      </p:sp>
      <p:sp>
        <p:nvSpPr>
          <p:cNvPr id="16" name="Text 14"/>
          <p:cNvSpPr/>
          <p:nvPr/>
        </p:nvSpPr>
        <p:spPr>
          <a:xfrm>
            <a:off x="6477000" y="2339339"/>
            <a:ext cx="19883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229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77000" y="2679700"/>
            <a:ext cx="198831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소화전 주변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77000" y="3155950"/>
            <a:ext cx="198831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화재 때 소방차가 소화전을 쓰지 못함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90000" y="1983739"/>
            <a:ext cx="2489200" cy="385826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890000" y="1983739"/>
            <a:ext cx="2489200" cy="3858260"/>
          </a:xfrm>
          <a:custGeom>
            <a:avLst/>
            <a:gdLst/>
            <a:ahLst/>
            <a:cxnLst/>
            <a:rect l="l" t="t" r="r" b="b"/>
            <a:pathLst>
              <a:path w="2489200" h="38582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2336800" y="0"/>
                </a:lnTo>
                <a:arcTo wR="152400" hR="152400" stAng="16200000" swAng="5400000"/>
                <a:lnTo>
                  <a:pt x="2489200" y="152400"/>
                </a:lnTo>
                <a:arcTo wR="152400" hR="76200" stAng="0" swAng="-5400000"/>
                <a:lnTo>
                  <a:pt x="152400" y="76200"/>
                </a:lnTo>
                <a:arcTo wR="152400" hR="76200" stAng="16200000" swAng="-5400000"/>
                <a:close/>
              </a:path>
            </a:pathLst>
          </a:custGeom>
          <a:solidFill>
            <a:srgbClr val="30A46C"/>
          </a:solidFill>
          <a:ln/>
        </p:spPr>
      </p:sp>
      <p:sp>
        <p:nvSpPr>
          <p:cNvPr id="21" name="Text 19"/>
          <p:cNvSpPr/>
          <p:nvPr/>
        </p:nvSpPr>
        <p:spPr>
          <a:xfrm>
            <a:off x="9169400" y="2339339"/>
            <a:ext cx="19883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73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69400" y="2679700"/>
            <a:ext cx="198831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주차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69400" y="3155950"/>
            <a:ext cx="198831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신고 대상이 아님을 안내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05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시스템 흐름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1A1D2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사진 한 장이 지나가는 길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990092"/>
            <a:ext cx="1430893" cy="1193800"/>
          </a:xfrm>
          <a:prstGeom prst="roundRect">
            <a:avLst>
              <a:gd name="adj" fmla="val 9043"/>
            </a:avLst>
          </a:prstGeom>
          <a:solidFill>
            <a:srgbClr val="EEF2F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5360" y="2146300"/>
            <a:ext cx="11692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5360" y="2410464"/>
            <a:ext cx="116927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 촬영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19893" y="239014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9AA1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43743" y="1990092"/>
            <a:ext cx="1430893" cy="1193800"/>
          </a:xfrm>
          <a:prstGeom prst="roundRect">
            <a:avLst>
              <a:gd name="adj" fmla="val 9043"/>
            </a:avLst>
          </a:prstGeom>
          <a:solidFill>
            <a:srgbClr val="FFF3EA"/>
          </a:solidFill>
          <a:ln w="12700">
            <a:solidFill>
              <a:srgbClr val="F76B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99953" y="2146300"/>
            <a:ext cx="11692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3B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→ 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99953" y="2410464"/>
            <a:ext cx="116927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 · 확신도 판별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37393" y="3291842"/>
            <a:ext cx="14943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확신도 0.4 미만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재촬영 안내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44486" y="239014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9AA1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468336" y="1990092"/>
            <a:ext cx="1430893" cy="1193800"/>
          </a:xfrm>
          <a:prstGeom prst="roundRect">
            <a:avLst>
              <a:gd name="adj" fmla="val 9043"/>
            </a:avLst>
          </a:prstGeom>
          <a:solidFill>
            <a:srgbClr val="EEF2F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4546" y="2146300"/>
            <a:ext cx="11692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24546" y="2410464"/>
            <a:ext cx="116927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확인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61986" y="3291842"/>
            <a:ext cx="14943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주차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신고 대상 아님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69079" y="239014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9AA1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92929" y="1990092"/>
            <a:ext cx="1430893" cy="1193800"/>
          </a:xfrm>
          <a:prstGeom prst="roundRect">
            <a:avLst>
              <a:gd name="adj" fmla="val 9043"/>
            </a:avLst>
          </a:prstGeom>
          <a:solidFill>
            <a:srgbClr val="EBF8F0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9139" y="2146300"/>
            <a:ext cx="11692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73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9139" y="2410464"/>
            <a:ext cx="116927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유형별 안내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93672" y="239014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9AA1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117522" y="1990092"/>
            <a:ext cx="1430893" cy="1193800"/>
          </a:xfrm>
          <a:prstGeom prst="roundRect">
            <a:avLst>
              <a:gd name="adj" fmla="val 9043"/>
            </a:avLst>
          </a:prstGeom>
          <a:solidFill>
            <a:srgbClr val="EEF2F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3733" y="2146300"/>
            <a:ext cx="11692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73733" y="2410464"/>
            <a:ext cx="116927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신고 요건 확인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11172" y="3291842"/>
            <a:ext cx="1494393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요건 충족 → 안전신문고 안내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미충족 → 미충족 안내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18266" y="239014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9AA1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942116" y="1990092"/>
            <a:ext cx="1430893" cy="1193800"/>
          </a:xfrm>
          <a:prstGeom prst="roundRect">
            <a:avLst>
              <a:gd name="adj" fmla="val 9043"/>
            </a:avLst>
          </a:prstGeom>
          <a:solidFill>
            <a:srgbClr val="EBF8F0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98325" y="2146300"/>
            <a:ext cx="11692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73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98325" y="2410464"/>
            <a:ext cx="1169273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판별 기록 저장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935766" y="3291842"/>
            <a:ext cx="1494393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유형·확신도·시각만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사진은 저장 안 함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AI 적용 방식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1A1D2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모델 · 화면 · 서버, 세 부분으로 만들었다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990092"/>
            <a:ext cx="3373993" cy="3845560"/>
          </a:xfrm>
          <a:prstGeom prst="roundRect">
            <a:avLst>
              <a:gd name="adj" fmla="val 4329"/>
            </a:avLst>
          </a:prstGeom>
          <a:solidFill>
            <a:srgbClr val="FFF3EA"/>
          </a:solidFill>
          <a:ln w="12700">
            <a:solidFill>
              <a:srgbClr val="F9B9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7760" y="2298700"/>
            <a:ext cx="2839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33B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모델 (현재)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60" y="2639064"/>
            <a:ext cx="283947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NVIDIA · DeepSeek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72718" y="3101342"/>
            <a:ext cx="2786898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9042" indent="-2090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AI가 사진을 보고 유형·확률·판단 근거를 답함</a:t>
            </a:r>
            <a:endParaRPr lang="en-US" sz="1600" dirty="0"/>
          </a:p>
          <a:p>
            <a:pPr marL="209042" indent="-2090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없이 아이디어를 먼저 검증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09043" y="1990092"/>
            <a:ext cx="3373993" cy="3845560"/>
          </a:xfrm>
          <a:prstGeom prst="roundRect">
            <a:avLst>
              <a:gd name="adj" fmla="val 4329"/>
            </a:avLst>
          </a:prstGeom>
          <a:solidFill>
            <a:srgbClr val="EEF2FB"/>
          </a:solidFill>
          <a:ln w="12700">
            <a:solidFill>
              <a:srgbClr val="C5D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7653" y="2298700"/>
            <a:ext cx="2839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17653" y="2639064"/>
            <a:ext cx="283947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· Vite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62611" y="3101342"/>
            <a:ext cx="2786898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9042" indent="-2090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촬영·업로드·결과·신고 안내 화면</a:t>
            </a:r>
            <a:endParaRPr lang="en-US" sz="1600" dirty="0"/>
          </a:p>
          <a:p>
            <a:pPr marL="209042" indent="-2090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인터넷이 끊기면 비상용 mock 모드로 시연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98937" y="1990092"/>
            <a:ext cx="3373993" cy="3845560"/>
          </a:xfrm>
          <a:prstGeom prst="roundRect">
            <a:avLst>
              <a:gd name="adj" fmla="val 4329"/>
            </a:avLst>
          </a:prstGeom>
          <a:solidFill>
            <a:srgbClr val="EBF8F0"/>
          </a:solidFill>
          <a:ln w="12700">
            <a:solidFill>
              <a:srgbClr val="A8DD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7546" y="2298700"/>
            <a:ext cx="2839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73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07546" y="2639064"/>
            <a:ext cx="283947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Boot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52504" y="3101342"/>
            <a:ext cx="2786898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9042" indent="-2090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사진을 검사해 AI에 보내고 응답 형식 검증</a:t>
            </a:r>
            <a:endParaRPr lang="en-US" sz="1600" dirty="0"/>
          </a:p>
          <a:p>
            <a:pPr marL="209042" indent="-2090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유형별 안내·판별 기록·통계 제공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07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변수 정의와 산출식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1A1D2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장벽을 숫자로 보여 준다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939292"/>
            <a:ext cx="2495550" cy="2951480"/>
          </a:xfrm>
          <a:prstGeom prst="roundRect">
            <a:avLst>
              <a:gd name="adj" fmla="val 5852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6960" y="2197100"/>
            <a:ext cx="20393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B₁ 통행폭 · 인도 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6960" y="2499364"/>
            <a:ext cx="203932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dirty="0">
                <a:solidFill>
                  <a:srgbClr val="C2292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0.2m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76960" y="3228342"/>
            <a:ext cx="203932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통행폭 (휠체어 최소 1.2m)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6960" y="3815079"/>
            <a:ext cx="203932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W_eff = W − 1.8m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보도 폭 2.0m 기준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5200" y="1939292"/>
            <a:ext cx="2495550" cy="2951480"/>
          </a:xfrm>
          <a:prstGeom prst="roundRect">
            <a:avLst>
              <a:gd name="adj" fmla="val 5852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3010" y="2197100"/>
            <a:ext cx="20393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B₂ 시야 · 횡단보도 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63010" y="2499364"/>
            <a:ext cx="203932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dirty="0">
                <a:solidFill>
                  <a:srgbClr val="C2292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29.7m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763010" y="3228342"/>
            <a:ext cx="2039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30km/h 차량의 정지거리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63010" y="3566164"/>
            <a:ext cx="203932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 = v·t + v²/(2fg)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50km/h면 59.3m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1250" y="1939292"/>
            <a:ext cx="2495550" cy="2951480"/>
          </a:xfrm>
          <a:prstGeom prst="roundRect">
            <a:avLst>
              <a:gd name="adj" fmla="val 5852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9060" y="2197100"/>
            <a:ext cx="20393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B₃ 차도 노출 · 인도 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9060" y="2499364"/>
            <a:ext cx="203932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dirty="0">
                <a:solidFill>
                  <a:srgbClr val="C2292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8.1초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449060" y="3228342"/>
            <a:ext cx="203932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교통약자가 차도를 걷는 시간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9060" y="3815079"/>
            <a:ext cx="203932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 = 우회 거리 ÷ 보행 속도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6.5m ÷ 0.8m/s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77300" y="1939292"/>
            <a:ext cx="2495550" cy="2951480"/>
          </a:xfrm>
          <a:prstGeom prst="roundRect">
            <a:avLst>
              <a:gd name="adj" fmla="val 5852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35110" y="2197100"/>
            <a:ext cx="20393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B₄ 소방 · 소화전 주변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35110" y="2499364"/>
            <a:ext cx="203932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dirty="0">
                <a:solidFill>
                  <a:srgbClr val="C2292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5m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9135110" y="3228342"/>
            <a:ext cx="2039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소화전 주정차 금지 거리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35110" y="3566164"/>
            <a:ext cx="203932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5m 이내면 B₄ = 1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도로교통법 제32조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800" y="5201921"/>
            <a:ext cx="10566400" cy="640080"/>
          </a:xfrm>
          <a:prstGeom prst="roundRect">
            <a:avLst>
              <a:gd name="adj" fmla="val 19841"/>
            </a:avLst>
          </a:prstGeom>
          <a:solidFill>
            <a:srgbClr val="1E3A8A"/>
          </a:solidFill>
          <a:ln/>
        </p:spPr>
      </p:sp>
      <p:sp>
        <p:nvSpPr>
          <p:cNvPr id="25" name="Text 23"/>
          <p:cNvSpPr/>
          <p:nvPr/>
        </p:nvSpPr>
        <p:spPr>
          <a:xfrm>
            <a:off x="1066800" y="5415279"/>
            <a:ext cx="961311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B2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위험 점수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29711" y="5379721"/>
            <a:ext cx="518674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 = 100 × p(확신도) × 해당 유형 장벽 지수의 평균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프로토타입 화면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1A1D2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찍고, 판별하고, 보여 준다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2942"/>
            <a:ext cx="2413000" cy="3365500"/>
          </a:xfrm>
          <a:prstGeom prst="roundRect">
            <a:avLst>
              <a:gd name="adj" fmla="val 11579"/>
            </a:avLst>
          </a:prstGeom>
          <a:solidFill>
            <a:srgbClr val="1A1D23"/>
          </a:solidFill>
          <a:ln/>
        </p:spPr>
      </p:sp>
      <p:sp>
        <p:nvSpPr>
          <p:cNvPr id="5" name="Shape 3"/>
          <p:cNvSpPr/>
          <p:nvPr/>
        </p:nvSpPr>
        <p:spPr>
          <a:xfrm>
            <a:off x="939800" y="2059942"/>
            <a:ext cx="2159000" cy="311150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66800" y="2186942"/>
            <a:ext cx="1905000" cy="1397000"/>
          </a:xfrm>
          <a:prstGeom prst="roundRect">
            <a:avLst>
              <a:gd name="adj" fmla="val 7273"/>
            </a:avLst>
          </a:prstGeom>
          <a:gradFill rotWithShape="1">
            <a:gsLst>
              <a:gs pos="0">
                <a:srgbClr val="AEB4BE"/>
              </a:gs>
              <a:gs pos="100000">
                <a:srgbClr val="7D8592"/>
              </a:gs>
            </a:gsLst>
            <a:lin ang="5400000" scaled="0"/>
          </a:gradFill>
          <a:ln/>
        </p:spPr>
      </p:sp>
      <p:sp>
        <p:nvSpPr>
          <p:cNvPr id="7" name="Shape 5"/>
          <p:cNvSpPr/>
          <p:nvPr/>
        </p:nvSpPr>
        <p:spPr>
          <a:xfrm>
            <a:off x="1066800" y="3139442"/>
            <a:ext cx="1905000" cy="444500"/>
          </a:xfrm>
          <a:prstGeom prst="rect">
            <a:avLst/>
          </a:prstGeom>
          <a:gradFill rotWithShape="1">
            <a:gsLst>
              <a:gs pos="0">
                <a:srgbClr val="EEF0F3"/>
              </a:gs>
              <a:gs pos="50000">
                <a:srgbClr val="EEF0F3"/>
              </a:gs>
              <a:gs pos="50000">
                <a:srgbClr val="7D8592"/>
              </a:gs>
              <a:gs pos="100000">
                <a:srgbClr val="7D8592"/>
              </a:gs>
            </a:gsLst>
            <a:lin ang="0" scaled="0"/>
          </a:gradFill>
          <a:ln/>
        </p:spPr>
      </p:sp>
      <p:sp>
        <p:nvSpPr>
          <p:cNvPr id="8" name="Shape 6"/>
          <p:cNvSpPr/>
          <p:nvPr/>
        </p:nvSpPr>
        <p:spPr>
          <a:xfrm>
            <a:off x="1511300" y="2694942"/>
            <a:ext cx="1016000" cy="609600"/>
          </a:xfrm>
          <a:prstGeom prst="roundRect">
            <a:avLst>
              <a:gd name="adj" fmla="val 22917"/>
            </a:avLst>
          </a:prstGeom>
          <a:solidFill>
            <a:srgbClr val="1A1D23"/>
          </a:solidFill>
          <a:ln/>
        </p:spPr>
      </p:sp>
      <p:sp>
        <p:nvSpPr>
          <p:cNvPr id="9" name="Shape 7"/>
          <p:cNvSpPr/>
          <p:nvPr/>
        </p:nvSpPr>
        <p:spPr>
          <a:xfrm>
            <a:off x="1362075" y="2558417"/>
            <a:ext cx="1314450" cy="857250"/>
          </a:xfrm>
          <a:prstGeom prst="roundRect">
            <a:avLst>
              <a:gd name="adj" fmla="val 5556"/>
            </a:avLst>
          </a:prstGeom>
          <a:noFill/>
          <a:ln w="31750">
            <a:solidFill>
              <a:srgbClr val="E5484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66800" y="3672842"/>
            <a:ext cx="1905000" cy="314960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  <p:txBody>
          <a:bodyPr wrap="square" lIns="29949" tIns="4676" rIns="29949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 · 횡단보도 위 87%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6800" y="4076700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횡단보도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92300" y="4138929"/>
            <a:ext cx="825500" cy="88900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4328164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92300" y="4390392"/>
            <a:ext cx="76200" cy="88900"/>
          </a:xfrm>
          <a:prstGeom prst="roundRect">
            <a:avLst>
              <a:gd name="adj" fmla="val 50000"/>
            </a:avLst>
          </a:prstGeom>
          <a:solidFill>
            <a:srgbClr val="C5CAD3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4579621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소화전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92300" y="4641850"/>
            <a:ext cx="38100" cy="88900"/>
          </a:xfrm>
          <a:prstGeom prst="roundRect">
            <a:avLst>
              <a:gd name="adj" fmla="val 50000"/>
            </a:avLst>
          </a:prstGeom>
          <a:solidFill>
            <a:srgbClr val="C5CAD3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483107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92300" y="4893314"/>
            <a:ext cx="25400" cy="88900"/>
          </a:xfrm>
          <a:prstGeom prst="roundRect">
            <a:avLst>
              <a:gd name="adj" fmla="val 50000"/>
            </a:avLst>
          </a:prstGeom>
          <a:solidFill>
            <a:srgbClr val="C5CAD3"/>
          </a:solidFill>
          <a:ln/>
        </p:spPr>
      </p:sp>
      <p:sp>
        <p:nvSpPr>
          <p:cNvPr id="19" name="Text 17"/>
          <p:cNvSpPr/>
          <p:nvPr/>
        </p:nvSpPr>
        <p:spPr>
          <a:xfrm>
            <a:off x="3683000" y="1932942"/>
            <a:ext cx="792708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카메라 위치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83000" y="2258064"/>
            <a:ext cx="792708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휴대폰 후면 카메라로 차량을 약 45° 비스듬히, 2~3m 거리에서 촬영. 차량과 바닥 표시가 한 화면에 담기도록 촬영 팁을 보여 줍니다.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83000" y="3020064"/>
            <a:ext cx="792708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인식 결과 화면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83000" y="3345179"/>
            <a:ext cx="792708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안내 박스의 색과 문구로 위반·정상을 표시하고, 유형별 확률 막대를 보여 줍니다. AI의 판단 근거도 함께 보여 주고, 확신도 40% 미만이면 재촬영을 안내합니다.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83000" y="4107179"/>
            <a:ext cx="792708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데이터 입출력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83000" y="4470400"/>
            <a:ext cx="483632" cy="314960"/>
          </a:xfrm>
          <a:prstGeom prst="roundRect">
            <a:avLst>
              <a:gd name="adj" fmla="val 20161"/>
            </a:avLst>
          </a:prstGeom>
          <a:solidFill>
            <a:srgbClr val="EEF2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30132" y="4521200"/>
            <a:ext cx="203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46032" y="4470400"/>
            <a:ext cx="1177687" cy="314960"/>
          </a:xfrm>
          <a:prstGeom prst="roundRect">
            <a:avLst>
              <a:gd name="adj" fmla="val 20161"/>
            </a:avLst>
          </a:prstGeom>
          <a:solidFill>
            <a:srgbClr val="EEF2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1024px 축소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87219" y="4521200"/>
            <a:ext cx="203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03119" y="4470400"/>
            <a:ext cx="943134" cy="314960"/>
          </a:xfrm>
          <a:prstGeom prst="roundRect">
            <a:avLst>
              <a:gd name="adj" fmla="val 20161"/>
            </a:avLst>
          </a:prstGeom>
          <a:solidFill>
            <a:srgbClr val="FFF3E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→ AI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09753" y="4521200"/>
            <a:ext cx="203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25653" y="4470400"/>
            <a:ext cx="1057116" cy="314960"/>
          </a:xfrm>
          <a:prstGeom prst="roundRect">
            <a:avLst>
              <a:gd name="adj" fmla="val 20161"/>
            </a:avLst>
          </a:prstGeom>
          <a:solidFill>
            <a:srgbClr val="FFF3E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유형·확률·근거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46269" y="4521200"/>
            <a:ext cx="203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62169" y="4470400"/>
            <a:ext cx="1274763" cy="314960"/>
          </a:xfrm>
          <a:prstGeom prst="roundRect">
            <a:avLst>
              <a:gd name="adj" fmla="val 20161"/>
            </a:avLst>
          </a:prstGeom>
          <a:solidFill>
            <a:srgbClr val="EBF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서버: 안내 · 기록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예측되는 시스템 오류와 대응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1A1D2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틀릴 수 있는 곳을 미리 막는다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2942"/>
            <a:ext cx="10566400" cy="2719070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43102"/>
          <a:ext cx="10556240" cy="2708910"/>
        </p:xfrm>
        <a:graphic>
          <a:graphicData uri="http://schemas.openxmlformats.org/drawingml/2006/table">
            <a:tbl>
              <a:tblPr/>
              <a:tblGrid>
                <a:gridCol w="1477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4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4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9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오류 상황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대응 전략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모델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실제 도로 사진을 잘못 판별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애매한 사진, 생성형 AI의 오판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확률·판단 근거를 함께 보여 주고, 확신도가 낮으면 재촬영 안내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시스템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응답 지연·실패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외부 AI 서버 혼잡, 인터넷 끊김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최대 1분 기다린 뒤 다시 시도 안내, 발표용 비상 mock 모드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시스템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카메라가 열리지 않음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브라우저 권한 거부, HTTPS가 아닌 접속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HTTPS로 배포, 권한이 없으면 갤러리에서 사진 올리기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사용·판정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사진만으로 법적 요건 판단 불가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10m·5m 거리, 주차 시간은 사진으로 알 수 없음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신고 요건 체크리스트로 확인한 뒤 ‘신고 가능’ 안내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앞으로의 계획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1A1D2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직접 학습한 모델로, 더 많은 장벽까지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3816" y="1983742"/>
            <a:ext cx="5148072" cy="2377440"/>
          </a:xfrm>
          <a:prstGeom prst="roundRect">
            <a:avLst>
              <a:gd name="adj" fmla="val 607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13816" y="1983742"/>
            <a:ext cx="5148072" cy="2377440"/>
          </a:xfrm>
          <a:custGeom>
            <a:avLst/>
            <a:gdLst/>
            <a:ahLst/>
            <a:cxnLst/>
            <a:rect l="l" t="t" r="r" b="b"/>
            <a:pathLst>
              <a:path w="2508250" h="38582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2355850" y="0"/>
                </a:lnTo>
                <a:arcTo wR="152400" hR="152400" stAng="16200000" swAng="5400000"/>
                <a:lnTo>
                  <a:pt x="2508250" y="152400"/>
                </a:lnTo>
                <a:arcTo wR="152400" hR="101600" stAng="0" swAng="-5400000"/>
                <a:lnTo>
                  <a:pt x="152400" y="50800"/>
                </a:lnTo>
                <a:arcTo wR="152400" hR="101600" stAng="16200000" swAng="-5400000"/>
                <a:close/>
              </a:path>
            </a:pathLst>
          </a:custGeom>
          <a:solidFill>
            <a:srgbClr val="1E3A8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69848" y="2288542"/>
            <a:ext cx="4636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33B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· 모델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9848" y="2603500"/>
            <a:ext cx="463600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학습 모델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9848" y="3002285"/>
            <a:ext cx="463600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모형·실제 사진으로 티처블 머신을 학습해,</a:t>
            </a:r>
            <a:b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사진이 기기 밖으로 나가지 않게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27064" y="1983742"/>
            <a:ext cx="5148072" cy="2377440"/>
          </a:xfrm>
          <a:prstGeom prst="roundRect">
            <a:avLst>
              <a:gd name="adj" fmla="val 607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27064" y="1983742"/>
            <a:ext cx="5148072" cy="2377440"/>
          </a:xfrm>
          <a:custGeom>
            <a:avLst/>
            <a:gdLst/>
            <a:ahLst/>
            <a:cxnLst/>
            <a:rect l="l" t="t" r="r" b="b"/>
            <a:pathLst>
              <a:path w="2508250" h="38582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2355850" y="0"/>
                </a:lnTo>
                <a:arcTo wR="152400" hR="152400" stAng="16200000" swAng="5400000"/>
                <a:lnTo>
                  <a:pt x="2508250" y="152400"/>
                </a:lnTo>
                <a:arcTo wR="152400" hR="101600" stAng="0" swAng="-5400000"/>
                <a:lnTo>
                  <a:pt x="152400" y="50800"/>
                </a:lnTo>
                <a:arcTo wR="152400" hR="101600" stAng="16200000" swAng="-5400000"/>
                <a:close/>
              </a:path>
            </a:pathLst>
          </a:custGeom>
          <a:solidFill>
            <a:srgbClr val="1E3A8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83096" y="2288542"/>
            <a:ext cx="4636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33B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· 모델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83096" y="2603500"/>
            <a:ext cx="463600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A1D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판별 유형 확장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83096" y="3002285"/>
            <a:ext cx="463600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점자블록 위, 버스정류장 앞, 교차로 모퉁이를 더해</a:t>
            </a:r>
            <a:b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>
                <a:solidFill>
                  <a:srgbClr val="4B52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7가지 유형으로 분류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gradFill rotWithShape="1">
            <a:gsLst>
              <a:gs pos="0">
                <a:srgbClr val="172E6E">
                  <a:alpha val="8000"/>
                </a:srgbClr>
              </a:gs>
              <a:gs pos="50000">
                <a:srgbClr val="172E6E">
                  <a:alpha val="8000"/>
                </a:srgbClr>
              </a:gs>
              <a:gs pos="50000">
                <a:srgbClr val="F76B15">
                  <a:alpha val="8000"/>
                </a:srgbClr>
              </a:gs>
              <a:gs pos="100000">
                <a:srgbClr val="F76B15">
                  <a:alpha val="8000"/>
                </a:srgbClr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442727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6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032000"/>
            <a:ext cx="8502650" cy="142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5520"/>
              </a:lnSpc>
              <a:buNone/>
            </a:pPr>
            <a:r>
              <a:rPr lang="en-US" sz="4800" b="0" i="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누구나 신고 대상인지 바로 알고,</a:t>
            </a:r>
            <a:endParaRPr lang="en-US" sz="4800" dirty="0"/>
          </a:p>
          <a:p>
            <a:pPr marL="0" indent="0" algn="l">
              <a:lnSpc>
                <a:spcPts val="5520"/>
              </a:lnSpc>
              <a:buNone/>
            </a:pPr>
            <a:r>
              <a:rPr lang="en-US" sz="4800" b="0" i="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막힌 길은 다시 열린다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30834" y="3738885"/>
            <a:ext cx="8476996" cy="75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5966" indent="-235966" algn="l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올바른 신고가 늘어 보행자 안전에 기여</a:t>
            </a:r>
            <a:endParaRPr lang="en-US" sz="1800" dirty="0"/>
          </a:p>
          <a:p>
            <a:pPr marL="235966" indent="-235966" algn="l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요건에 맞지 않는 신고가 줄어 담당 기관의 부담 감소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4775200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감사합니다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길터 – AI 불법 주정차 판별">
  <a:themeElements>
    <a:clrScheme name="길터 – AI 불법 주정차 판별">
      <a:dk1>
        <a:srgbClr val="1A1D23"/>
      </a:dk1>
      <a:lt1>
        <a:srgbClr val="F4F5F7"/>
      </a:lt1>
      <a:dk2>
        <a:srgbClr val="545659"/>
      </a:dk2>
      <a:lt2>
        <a:srgbClr val="E0DEDA"/>
      </a:lt2>
      <a:accent1>
        <a:srgbClr val="1E3A8A"/>
      </a:accent1>
      <a:accent2>
        <a:srgbClr val="E5484D"/>
      </a:accent2>
      <a:accent3>
        <a:srgbClr val="F76B15"/>
      </a:accent3>
      <a:accent4>
        <a:srgbClr val="1E3A8A"/>
      </a:accent4>
      <a:accent5>
        <a:srgbClr val="1E3A8A"/>
      </a:accent5>
      <a:accent6>
        <a:srgbClr val="30A46C"/>
      </a:accent6>
      <a:hlink>
        <a:srgbClr val="0563C1"/>
      </a:hlink>
      <a:folHlink>
        <a:srgbClr val="954F72"/>
      </a:folHlink>
    </a:clrScheme>
    <a:fontScheme name="길터 – AI 불법 주정차 판별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1932</Words>
  <Application>Microsoft Office PowerPoint</Application>
  <PresentationFormat>와이드스크린</PresentationFormat>
  <Paragraphs>305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Black Han Sans</vt:lpstr>
      <vt:lpstr>Noto Sans KR</vt:lpstr>
      <vt:lpstr>맑은 고딕</vt:lpstr>
      <vt:lpstr>Arial</vt:lpstr>
      <vt:lpstr>길터 – AI 불법 주정차 판별</vt:lpstr>
      <vt:lpstr>입력 없음</vt:lpstr>
      <vt:lpstr>팀원 소개</vt:lpstr>
      <vt:lpstr>이동장벽</vt:lpstr>
      <vt:lpstr>막연한 문제의식을 문제 정의로</vt:lpstr>
      <vt:lpstr>가려진 보행자, 막힌 소방차</vt:lpstr>
      <vt:lpstr>사진 한 장이면, 판별부터 신고 안내까지</vt:lpstr>
      <vt:lpstr>AI가 구분하는 4가지 유형</vt:lpstr>
      <vt:lpstr>불법 주정차가 만드는 4가지 장벽</vt:lpstr>
      <vt:lpstr>사진 한 장이 지나가는 길</vt:lpstr>
      <vt:lpstr>모델 · 화면 · 서버, 세 부분으로 만든다</vt:lpstr>
      <vt:lpstr>장벽을 숫자로 보여 준다</vt:lpstr>
      <vt:lpstr>찍고, 판별하고, 보여 준다</vt:lpstr>
      <vt:lpstr>틀릴 수 있는 곳을 미리 막는다</vt:lpstr>
      <vt:lpstr>믿을 수 있는 판별을 위해</vt:lpstr>
      <vt:lpstr>해커톤 이후, 데모데이까지</vt:lpstr>
      <vt:lpstr>더 많은 장벽을, 더 많은 사람에게</vt:lpstr>
      <vt:lpstr>누구나 신고 대상인지 바로 알고, 막힌 길은 다시 열린다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길터 – AI 불법 주정차 판별</dc:title>
  <dc:subject/>
  <dc:creator/>
  <cp:lastModifiedBy>a</cp:lastModifiedBy>
  <cp:revision>4</cp:revision>
  <dcterms:created xsi:type="dcterms:W3CDTF">2026-10-16T02:50:18Z</dcterms:created>
  <dcterms:modified xsi:type="dcterms:W3CDTF">2026-10-16T06:15:12Z</dcterms:modified>
</cp:coreProperties>
</file>