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60" r:id="rId6"/>
    <p:sldId id="261" r:id="rId7"/>
    <p:sldId id="262" r:id="rId8"/>
    <p:sldId id="264" r:id="rId10"/>
    <p:sldId id="265" r:id="rId11"/>
    <p:sldId id="266" r:id="rId12"/>
    <p:sldId id="267" r:id="rId13"/>
    <p:sldId id="268" r:id="rId14"/>
    <p:sldId id="269" r:id="rId15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115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9482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안녕하세요, 환일고 환일야호 팀입니다. 저희 프로젝트 이름은 ‘길터’로, ‘길을 트다’에서 따왔습니다. 사진 한 장으로 불법 주정차 여부를 판별하고 올바른 신고를 돕는 웹입니다.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저희 팀은 환일고 1학년 세 명입니다. 팀장 임채준이 개발, 서한은이 디자인, 강동윤이 기획을 맡았습니다. 제품 구분은 Vision AI 융합이고, 사진으로 불법 주정차인지 판별해서 신고를 도와주는 웹을 만듭니다.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저희가 정한 이동약자는 두 유형입니다. 첫째는 보행자로, 불법 주정차 때문에 시야가 가려 사고 위험이 커집니다. 둘째는 소방관으로, 좁은 골목과 소화전 앞 주차 때문에 화재 구역 진입이 늦어집니다. 그런데 기존 신고 앱은 접수 중심이라 신고 대상인지는 시민이 직접 판단해야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사용 방법은 세 단계입니다. 사진을 찍어 올리면 AI가 4가지 유형으로 판별해 확신도와 판단 근거를 보여 주고, 위험한 이유와 신고 요건, 신고 방법까지 한 화면에 안내합니다.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AI는 사진을 횡단보도 위, 인도 위, 소화전 주변, 정상 주차의 4가지로 분류합니다. 위반 유형마다 왜 위험한지가 다르기 때문에, 유형에 맞는 안내를 보여 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실제로 만든 프로토타입의 흐름입니다. 화면에서 사진을 찍으면 긴 변 1024픽셀로 줄여 서버로 보내고, 서버가 사진을 검사한 뒤 외부 AI에 판별을 맡깁니다. 확신도가 0.4 미만이면 다시 찍도록 안내하고, 결과와 판단 근거를 보여 줍니다. 서버는 유형별 안내를 돌려주고, 신고 요건을 확인한 뒤 사진을 뺀 기록만 저장합니다.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구현은 세 부분입니다. 원래 계획은 티처블 머신으로 직접 학습한 모델이었지만, 데이터를 모으는 데 시간이 걸려 지금은 NVIDIA Build의 생성형 AI인 DeepSeek V4.1 Flash로 먼저 아이디어를 검증했습니다. 화면은 React로 만들었고, 인터넷이 끊겨도 시연할 수 있게 비상용 mock 모드를 넣었습니다. Spring Boot 서버는 사진을 검사해 AI에 보내고, AI 응답이 정해진 형식인지 검증하며, 안내와 판별 기록, 통계를 제공합니다.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각 장벽을 수치로 계산하는 방법입니다. 인도 위 주차는 남은 통행폭이 0.2m로 휠체어 최소 폭 1.2m에 크게 못 미칩니다. 횡단보도 위 주차는 시속 30km 차량도 멈추는 데 약 30m가 필요합니다. 인도가 막히면 교통약자는 약 8초 동안 차도를 걸어야 하고, 소화전 5m 이내 주차는 소방 활동을 막습니다. 이 계산은 다음 단계에서 서버에 넣을 계획입니다.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프로토타입 화면입니다. 차량과 바닥 표시가 함께 보이게 찍으면 판별 결과와 확신도, 유형별 확률, 그리고 AI의 판단 근거를 보여 줍니다. 확신도가 40% 미만이면 결과 대신 다시 찍도록 안내합니다. 사진은 판별에만 쓰이고 서버에 저장하지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예상되는 오류를 네 가지로 나눴습니다. AI가 애매한 사진을 틀리게 판별할 수 있어 확률과 근거를 함께 보여 주고, 외부 AI가 느리거나 실패하면 다시 시도하도록 안내하며 발표용 비상 모드도 준비했습니다. 카메라가 안 열리면 갤러리 업로드로 대신하고, 사진만으로 알 수 없는 거리와 시간 요건은 체크리스트로 확인합니다.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AI 윤리 측면입니다. 생성형 AI는 틀린 답을 그럴듯하게 말할 수 있어서, 정해진 4가지 유형과 형식으로만 답하게 하고 서버가 한 번 더 검증합니다. 지금 버전은 분석할 때만 사진을 외부 AI로 보내지만 저장하지는 않고, 번호판이나 얼굴이 없는 사진을 쓰도록 안내합니다. 최종 목표는 직접 학습한 모델로 기기 안에서 판별하는 것입니다.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앞으로의 계획입니다. 먼저 직접 모은 모형과 실제 사진으로 티처블 머신 모델을 학습해, 사진이 기기 밖으로 나가지 않게 바꿀 계획입니다. 그다음 보도 폭 같은 추가 정보를 받아 장벽 지수를 계산하고, 점자블록이나 버스정류장처럼 판별 유형을 늘리고, 마지막으로 동의한 기록만 모아 장벽 지도를 만들어 지자체에 제안하고 싶습니다.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길터를 통해 누구나 신고 대상인지 쉽게 확인할 수 있으면, 올바른 신고가 늘고 보행자 안전에 도움이 됩니다. 요건에 맞지 않는 신고는 줄어서 담당 기관의 부담도 덜 수 있습니다. 감사합니다.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02364"/>
            <a:ext cx="105664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1E2227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932944"/>
            <a:ext cx="10566400" cy="411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E22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02364"/>
            <a:ext cx="105664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1E2227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932944"/>
            <a:ext cx="10566400" cy="411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E22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2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0" y="0"/>
            <a:ext cx="4064000" cy="6858000"/>
          </a:xfrm>
          <a:prstGeom prst="rect">
            <a:avLst/>
          </a:prstGeom>
          <a:gradFill rotWithShape="1">
            <a:gsLst>
              <a:gs pos="0">
                <a:srgbClr val="F5F3EE">
                  <a:alpha val="10000"/>
                </a:srgbClr>
              </a:gs>
              <a:gs pos="50000">
                <a:srgbClr val="F5F3EE">
                  <a:alpha val="10000"/>
                </a:srgbClr>
              </a:gs>
              <a:gs pos="50000">
                <a:srgbClr val="1E2227">
                  <a:alpha val="10000"/>
                </a:srgbClr>
              </a:gs>
              <a:gs pos="100000">
                <a:srgbClr val="1E2227">
                  <a:alpha val="10000"/>
                </a:srgbClr>
              </a:gs>
            </a:gsLst>
            <a:lin ang="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1610360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kern="0" spc="100" dirty="0">
                <a:solidFill>
                  <a:srgbClr val="F2C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AI동행 프로젝트 · 자율탐구</a:t>
            </a:r>
            <a:endParaRPr lang="en-US" sz="16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2148840"/>
            <a:ext cx="10883392" cy="154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000"/>
              </a:lnSpc>
              <a:buNone/>
            </a:pPr>
            <a:r>
              <a:rPr lang="ko-KR" altLang="en-US" sz="12000" dirty="0">
                <a:solidFill>
                  <a:srgbClr val="F2C230"/>
                </a:solidFill>
              </a:rPr>
              <a:t>길터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812800" y="3926840"/>
            <a:ext cx="719455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dirty="0" err="1">
                <a:solidFill>
                  <a:srgbClr val="F5F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불법</a:t>
            </a:r>
            <a:r>
              <a:rPr lang="en-US" sz="2200" dirty="0">
                <a:solidFill>
                  <a:srgbClr val="F5F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주정차를 </a:t>
            </a:r>
            <a:r>
              <a:rPr lang="en-US" sz="2200" dirty="0" err="1">
                <a:solidFill>
                  <a:srgbClr val="F5F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판별하고</a:t>
            </a:r>
            <a:r>
              <a:rPr lang="en-US" sz="2200" dirty="0">
                <a:solidFill>
                  <a:srgbClr val="F5F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</a:t>
            </a:r>
            <a:r>
              <a:rPr lang="en-US" sz="2200" dirty="0"/>
              <a:t> </a:t>
            </a:r>
          </a:p>
          <a:p>
            <a:pPr marL="0" indent="0" algn="l">
              <a:lnSpc>
                <a:spcPts val="3080"/>
              </a:lnSpc>
              <a:buNone/>
            </a:pPr>
            <a:r>
              <a:rPr lang="en-US" sz="2200" dirty="0" err="1">
                <a:solidFill>
                  <a:srgbClr val="F5F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막힌</a:t>
            </a:r>
            <a:r>
              <a:rPr lang="en-US" sz="2200" dirty="0">
                <a:solidFill>
                  <a:srgbClr val="F5F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길을 다시 여는 AI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12800" y="4963160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C9CDD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환일 야호 · 환일고등학교 · Vision AI 융합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5">
            <a:extLst>
              <a:ext uri="{FF2B5EF4-FFF2-40B4-BE49-F238E27FC236}">
                <a16:creationId xmlns:a16="http://schemas.microsoft.com/office/drawing/2014/main" id="{1AA617A8-E2F8-4343-94B4-355AE4B9AA9E}"/>
              </a:ext>
            </a:extLst>
          </p:cNvPr>
          <p:cNvSpPr/>
          <p:nvPr/>
        </p:nvSpPr>
        <p:spPr>
          <a:xfrm>
            <a:off x="789026" y="2002790"/>
            <a:ext cx="3380740" cy="1455420"/>
          </a:xfrm>
          <a:prstGeom prst="roundRect">
            <a:avLst>
              <a:gd name="adj" fmla="val 10035"/>
            </a:avLst>
          </a:prstGeom>
          <a:solidFill>
            <a:srgbClr val="FFFDF8"/>
          </a:solidFill>
          <a:ln w="12700">
            <a:solidFill>
              <a:srgbClr val="DCD8CE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F6FB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팀 기본 정보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60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ko-KR" altLang="en-US" sz="3600" b="0" i="0" dirty="0">
                <a:solidFill>
                  <a:srgbClr val="1E2227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팀원</a:t>
            </a:r>
            <a:r>
              <a:rPr lang="en-US" sz="3600" b="0" i="0" dirty="0">
                <a:solidFill>
                  <a:srgbClr val="1E2227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 </a:t>
            </a:r>
            <a:r>
              <a:rPr lang="en-US" sz="3600" b="0" i="0" dirty="0" err="1">
                <a:solidFill>
                  <a:srgbClr val="1E2227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소개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117600" y="2288540"/>
            <a:ext cx="284642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2C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팀장 · 개발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17600" y="2578100"/>
            <a:ext cx="2846426" cy="574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320"/>
              </a:lnSpc>
              <a:buNone/>
            </a:pPr>
            <a:r>
              <a:rPr lang="en-US" sz="3600" dirty="0"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임채준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4395470" y="1990090"/>
            <a:ext cx="3380740" cy="1455420"/>
          </a:xfrm>
          <a:prstGeom prst="roundRect">
            <a:avLst>
              <a:gd name="adj" fmla="val 10035"/>
            </a:avLst>
          </a:prstGeom>
          <a:solidFill>
            <a:srgbClr val="FFFDF8"/>
          </a:solidFill>
          <a:ln w="12700">
            <a:solidFill>
              <a:srgbClr val="DCD8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4080" y="2298700"/>
            <a:ext cx="284642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F6FB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디자인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04080" y="2588260"/>
            <a:ext cx="2846426" cy="574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320"/>
              </a:lnSpc>
              <a:buNone/>
            </a:pPr>
            <a:r>
              <a:rPr lang="en-US" sz="3600" dirty="0">
                <a:solidFill>
                  <a:srgbClr val="1E2227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서한은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7992110" y="1990090"/>
            <a:ext cx="3380740" cy="1455420"/>
          </a:xfrm>
          <a:prstGeom prst="roundRect">
            <a:avLst>
              <a:gd name="adj" fmla="val 10035"/>
            </a:avLst>
          </a:prstGeom>
          <a:solidFill>
            <a:srgbClr val="FFFDF8"/>
          </a:solidFill>
          <a:ln w="12700">
            <a:solidFill>
              <a:srgbClr val="DCD8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00720" y="2298700"/>
            <a:ext cx="284642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F6FB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00720" y="2588260"/>
            <a:ext cx="2846426" cy="574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320"/>
              </a:lnSpc>
              <a:buNone/>
            </a:pPr>
            <a:r>
              <a:rPr lang="en-US" sz="3600" dirty="0">
                <a:solidFill>
                  <a:srgbClr val="1E2227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강동윤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812800" y="3807460"/>
            <a:ext cx="26162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B707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소속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2800" y="4071620"/>
            <a:ext cx="26162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E22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환일고등학교 1학년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56000" y="3807460"/>
            <a:ext cx="26162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B707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제품 구분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56000" y="4071620"/>
            <a:ext cx="26162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E22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Vision AI 융합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99200" y="3807460"/>
            <a:ext cx="52324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B707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줄 소개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99200" y="4071620"/>
            <a:ext cx="52324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E22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사진으로 불법 주정차인지 판별해서 신고를 도와주는 웹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41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07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길터 · 환일 야호 | 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2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F2C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기획 배경 및 문제 정의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61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0" i="0" dirty="0">
                <a:solidFill>
                  <a:srgbClr val="F5F3EE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가려진 보행자, 막힌 소방차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83739"/>
            <a:ext cx="3386693" cy="3197860"/>
          </a:xfrm>
          <a:prstGeom prst="roundRect">
            <a:avLst>
              <a:gd name="adj" fmla="val 4766"/>
            </a:avLst>
          </a:prstGeom>
          <a:solidFill>
            <a:srgbClr val="2A2F35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983739"/>
            <a:ext cx="3386693" cy="3197860"/>
          </a:xfrm>
          <a:custGeom>
            <a:avLst/>
            <a:gdLst/>
            <a:ahLst/>
            <a:cxnLst/>
            <a:rect l="l" t="t" r="r" b="b"/>
            <a:pathLst>
              <a:path w="3386693" h="3197860">
                <a:moveTo>
                  <a:pt x="0" y="152400"/>
                </a:moveTo>
                <a:lnTo>
                  <a:pt x="0" y="152400"/>
                </a:lnTo>
                <a:arcTo wR="152400" hR="152400" stAng="10800000" swAng="5400000"/>
                <a:lnTo>
                  <a:pt x="3234293" y="0"/>
                </a:lnTo>
                <a:arcTo wR="152400" hR="152400" stAng="16200000" swAng="5400000"/>
                <a:lnTo>
                  <a:pt x="3386693" y="152400"/>
                </a:lnTo>
                <a:arcTo wR="152400" hR="101600" stAng="0" swAng="-5400000"/>
                <a:lnTo>
                  <a:pt x="152400" y="50800"/>
                </a:lnTo>
                <a:arcTo wR="152400" hR="101600" stAng="16200000" swAng="-5400000"/>
                <a:close/>
              </a:path>
            </a:pathLst>
          </a:custGeom>
          <a:solidFill>
            <a:srgbClr val="F2C230"/>
          </a:solidFill>
          <a:ln/>
        </p:spPr>
      </p:sp>
      <p:sp>
        <p:nvSpPr>
          <p:cNvPr id="6" name="Text 4"/>
          <p:cNvSpPr/>
          <p:nvPr/>
        </p:nvSpPr>
        <p:spPr>
          <a:xfrm>
            <a:off x="1117600" y="2339339"/>
            <a:ext cx="286040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2C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이동약자 ① 보행자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7600" y="2679700"/>
            <a:ext cx="2860406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5F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시야가 가려 사고 위험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17600" y="3136900"/>
            <a:ext cx="286040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C9CDD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횡단보도·인도 주변 주차가 보행자와 운전자의 시야를 가립니다.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02693" y="1983739"/>
            <a:ext cx="3386693" cy="3197860"/>
          </a:xfrm>
          <a:prstGeom prst="roundRect">
            <a:avLst>
              <a:gd name="adj" fmla="val 4766"/>
            </a:avLst>
          </a:prstGeom>
          <a:solidFill>
            <a:srgbClr val="2A2F35"/>
          </a:solidFill>
          <a:ln/>
        </p:spPr>
      </p:sp>
      <p:sp>
        <p:nvSpPr>
          <p:cNvPr id="10" name="Shape 8"/>
          <p:cNvSpPr/>
          <p:nvPr/>
        </p:nvSpPr>
        <p:spPr>
          <a:xfrm>
            <a:off x="4402693" y="1983739"/>
            <a:ext cx="3386693" cy="3197860"/>
          </a:xfrm>
          <a:custGeom>
            <a:avLst/>
            <a:gdLst/>
            <a:ahLst/>
            <a:cxnLst/>
            <a:rect l="l" t="t" r="r" b="b"/>
            <a:pathLst>
              <a:path w="3386693" h="3197860">
                <a:moveTo>
                  <a:pt x="0" y="152400"/>
                </a:moveTo>
                <a:lnTo>
                  <a:pt x="0" y="152400"/>
                </a:lnTo>
                <a:arcTo wR="152400" hR="152400" stAng="10800000" swAng="5400000"/>
                <a:lnTo>
                  <a:pt x="3234293" y="0"/>
                </a:lnTo>
                <a:arcTo wR="152400" hR="152400" stAng="16200000" swAng="5400000"/>
                <a:lnTo>
                  <a:pt x="3386693" y="152400"/>
                </a:lnTo>
                <a:arcTo wR="152400" hR="101600" stAng="0" swAng="-5400000"/>
                <a:lnTo>
                  <a:pt x="152400" y="50800"/>
                </a:lnTo>
                <a:arcTo wR="152400" hR="101600" stAng="16200000" swAng="-5400000"/>
                <a:close/>
              </a:path>
            </a:pathLst>
          </a:custGeom>
          <a:solidFill>
            <a:srgbClr val="F2C230"/>
          </a:solidFill>
          <a:ln/>
        </p:spPr>
      </p:sp>
      <p:sp>
        <p:nvSpPr>
          <p:cNvPr id="11" name="Text 9"/>
          <p:cNvSpPr/>
          <p:nvPr/>
        </p:nvSpPr>
        <p:spPr>
          <a:xfrm>
            <a:off x="4707493" y="2339339"/>
            <a:ext cx="286040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2C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이동약자 ② 소방관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07493" y="2679700"/>
            <a:ext cx="2860406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5F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화재 구역 진입 방해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707493" y="3136900"/>
            <a:ext cx="286040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C9CDD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좁은 골목·소화전 앞 주차가 소방차 진입과 소화전 사용을 막습니다.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992587" y="1983739"/>
            <a:ext cx="3386693" cy="3197860"/>
          </a:xfrm>
          <a:prstGeom prst="roundRect">
            <a:avLst>
              <a:gd name="adj" fmla="val 4766"/>
            </a:avLst>
          </a:prstGeom>
          <a:solidFill>
            <a:srgbClr val="2A2F35"/>
          </a:solidFill>
          <a:ln/>
        </p:spPr>
      </p:sp>
      <p:sp>
        <p:nvSpPr>
          <p:cNvPr id="15" name="Shape 13"/>
          <p:cNvSpPr/>
          <p:nvPr/>
        </p:nvSpPr>
        <p:spPr>
          <a:xfrm>
            <a:off x="7992587" y="1983739"/>
            <a:ext cx="3386693" cy="3197860"/>
          </a:xfrm>
          <a:custGeom>
            <a:avLst/>
            <a:gdLst/>
            <a:ahLst/>
            <a:cxnLst/>
            <a:rect l="l" t="t" r="r" b="b"/>
            <a:pathLst>
              <a:path w="3386693" h="3197860">
                <a:moveTo>
                  <a:pt x="0" y="152400"/>
                </a:moveTo>
                <a:lnTo>
                  <a:pt x="0" y="152400"/>
                </a:lnTo>
                <a:arcTo wR="152400" hR="152400" stAng="10800000" swAng="5400000"/>
                <a:lnTo>
                  <a:pt x="3234293" y="0"/>
                </a:lnTo>
                <a:arcTo wR="152400" hR="152400" stAng="16200000" swAng="5400000"/>
                <a:lnTo>
                  <a:pt x="3386693" y="152400"/>
                </a:lnTo>
                <a:arcTo wR="152400" hR="101600" stAng="0" swAng="-5400000"/>
                <a:lnTo>
                  <a:pt x="152400" y="50800"/>
                </a:lnTo>
                <a:arcTo wR="152400" hR="101600" stAng="16200000" swAng="-5400000"/>
                <a:close/>
              </a:path>
            </a:pathLst>
          </a:custGeom>
          <a:solidFill>
            <a:srgbClr val="6FA8E8"/>
          </a:solidFill>
          <a:ln/>
        </p:spPr>
      </p:sp>
      <p:sp>
        <p:nvSpPr>
          <p:cNvPr id="16" name="Text 14"/>
          <p:cNvSpPr/>
          <p:nvPr/>
        </p:nvSpPr>
        <p:spPr>
          <a:xfrm>
            <a:off x="8297387" y="2339339"/>
            <a:ext cx="286040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FA8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신고 앱의 한계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97387" y="2679700"/>
            <a:ext cx="2860406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5F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판단은 신고자 몫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297387" y="3136900"/>
            <a:ext cx="286040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C9CDD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접수 중심이라 신고 대상인지는 시민이 직접 판단해야 합니다.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2800" y="5537200"/>
            <a:ext cx="108833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F2C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 의도</a:t>
            </a:r>
            <a:r>
              <a:rPr lang="en-US" sz="1600" dirty="0">
                <a:solidFill>
                  <a:srgbClr val="F5F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불법 주정차로 생기는 보행자 사고와 소방 진입 문제를 최소화한다.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C92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길터 · 환일 야호 | 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F6FB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핵심 기능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61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0" i="0" dirty="0">
                <a:solidFill>
                  <a:srgbClr val="1E2227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사진 한 장이면, 판별부터 신고 안내까지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9150" y="1990089"/>
            <a:ext cx="3187700" cy="3845560"/>
          </a:xfrm>
          <a:prstGeom prst="roundRect">
            <a:avLst>
              <a:gd name="adj" fmla="val 4582"/>
            </a:avLst>
          </a:prstGeom>
          <a:solidFill>
            <a:srgbClr val="FFFDF8"/>
          </a:solidFill>
          <a:ln w="12700">
            <a:solidFill>
              <a:srgbClr val="DCD8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7760" y="2298700"/>
            <a:ext cx="2647595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dirty="0">
                <a:solidFill>
                  <a:srgbClr val="F2A900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127760" y="2882900"/>
            <a:ext cx="2647595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E22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촬영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27760" y="3345182"/>
            <a:ext cx="2647595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A4F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주차된 차량과 주변 바닥이 함께 담긴 사진을 올립니다.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0" y="3717289"/>
            <a:ext cx="33528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9AA0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02150" y="1990089"/>
            <a:ext cx="3187700" cy="3845560"/>
          </a:xfrm>
          <a:prstGeom prst="roundRect">
            <a:avLst>
              <a:gd name="adj" fmla="val 4582"/>
            </a:avLst>
          </a:prstGeom>
          <a:solidFill>
            <a:srgbClr val="FFFDF8"/>
          </a:solidFill>
          <a:ln w="12700">
            <a:solidFill>
              <a:srgbClr val="DCD8C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10760" y="2298700"/>
            <a:ext cx="2647595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dirty="0">
                <a:solidFill>
                  <a:srgbClr val="F2A900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02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810760" y="2882900"/>
            <a:ext cx="2647595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E22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판별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10760" y="3345182"/>
            <a:ext cx="2647595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A4F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AI가 4가지 유형으로 나누고 확신도와 판단 근거를 보여 줍니다.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97800" y="3717289"/>
            <a:ext cx="33528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9AA0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185150" y="1990089"/>
            <a:ext cx="3187700" cy="3845560"/>
          </a:xfrm>
          <a:prstGeom prst="roundRect">
            <a:avLst>
              <a:gd name="adj" fmla="val 4582"/>
            </a:avLst>
          </a:prstGeom>
          <a:solidFill>
            <a:srgbClr val="FFFDF8"/>
          </a:solidFill>
          <a:ln w="12700">
            <a:solidFill>
              <a:srgbClr val="DCD8C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93760" y="2298700"/>
            <a:ext cx="2647595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dirty="0">
                <a:solidFill>
                  <a:srgbClr val="F2A900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03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8493760" y="2882900"/>
            <a:ext cx="2647595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E22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안내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493760" y="3345182"/>
            <a:ext cx="2647595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A4F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위험한 이유, 신고 요건 체크리스트, 안전신문고 신고 방법을 안내합니다.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07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길터 · 환일 야호 | 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F6FB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핵심 기능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61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0" i="0" dirty="0">
                <a:solidFill>
                  <a:srgbClr val="1E2227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AI가 구분하는 4가지 유형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83739"/>
            <a:ext cx="2489200" cy="3858260"/>
          </a:xfrm>
          <a:prstGeom prst="roundRect">
            <a:avLst>
              <a:gd name="adj" fmla="val 6122"/>
            </a:avLst>
          </a:prstGeom>
          <a:solidFill>
            <a:srgbClr val="FFFDF8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983739"/>
            <a:ext cx="2489200" cy="3858260"/>
          </a:xfrm>
          <a:custGeom>
            <a:avLst/>
            <a:gdLst/>
            <a:ahLst/>
            <a:cxnLst/>
            <a:rect l="l" t="t" r="r" b="b"/>
            <a:pathLst>
              <a:path w="2489200" h="3858260">
                <a:moveTo>
                  <a:pt x="0" y="152400"/>
                </a:moveTo>
                <a:lnTo>
                  <a:pt x="0" y="152400"/>
                </a:lnTo>
                <a:arcTo wR="152400" hR="152400" stAng="10800000" swAng="5400000"/>
                <a:lnTo>
                  <a:pt x="2336800" y="0"/>
                </a:lnTo>
                <a:arcTo wR="152400" hR="152400" stAng="16200000" swAng="5400000"/>
                <a:lnTo>
                  <a:pt x="2489200" y="152400"/>
                </a:lnTo>
                <a:arcTo wR="152400" hR="76200" stAng="0" swAng="-5400000"/>
                <a:lnTo>
                  <a:pt x="152400" y="76200"/>
                </a:lnTo>
                <a:arcTo wR="152400" hR="76200" stAng="16200000" swAng="-5400000"/>
                <a:close/>
              </a:path>
            </a:pathLst>
          </a:custGeom>
          <a:solidFill>
            <a:srgbClr val="C2541E"/>
          </a:solidFill>
          <a:ln/>
        </p:spPr>
      </p:sp>
      <p:sp>
        <p:nvSpPr>
          <p:cNvPr id="6" name="Text 4"/>
          <p:cNvSpPr/>
          <p:nvPr/>
        </p:nvSpPr>
        <p:spPr>
          <a:xfrm>
            <a:off x="1092200" y="2339339"/>
            <a:ext cx="198831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254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위반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2200" y="2679700"/>
            <a:ext cx="1988312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 err="1">
                <a:solidFill>
                  <a:srgbClr val="1E22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횡단보도</a:t>
            </a:r>
            <a:r>
              <a:rPr lang="en-US" sz="2200" b="1" dirty="0">
                <a:solidFill>
                  <a:srgbClr val="1E22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2200" b="1" dirty="0">
                <a:solidFill>
                  <a:srgbClr val="1E22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92200" y="3155950"/>
            <a:ext cx="1988312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A4F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보행자와 운전자의 시야를 가림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505200" y="1983739"/>
            <a:ext cx="2489200" cy="3858260"/>
          </a:xfrm>
          <a:prstGeom prst="roundRect">
            <a:avLst>
              <a:gd name="adj" fmla="val 6122"/>
            </a:avLst>
          </a:prstGeom>
          <a:solidFill>
            <a:srgbClr val="FFFDF8"/>
          </a:solidFill>
          <a:ln/>
        </p:spPr>
      </p:sp>
      <p:sp>
        <p:nvSpPr>
          <p:cNvPr id="10" name="Shape 8"/>
          <p:cNvSpPr/>
          <p:nvPr/>
        </p:nvSpPr>
        <p:spPr>
          <a:xfrm>
            <a:off x="3505200" y="1983739"/>
            <a:ext cx="2489200" cy="3858260"/>
          </a:xfrm>
          <a:custGeom>
            <a:avLst/>
            <a:gdLst/>
            <a:ahLst/>
            <a:cxnLst/>
            <a:rect l="l" t="t" r="r" b="b"/>
            <a:pathLst>
              <a:path w="2489200" h="3858260">
                <a:moveTo>
                  <a:pt x="0" y="152400"/>
                </a:moveTo>
                <a:lnTo>
                  <a:pt x="0" y="152400"/>
                </a:lnTo>
                <a:arcTo wR="152400" hR="152400" stAng="10800000" swAng="5400000"/>
                <a:lnTo>
                  <a:pt x="2336800" y="0"/>
                </a:lnTo>
                <a:arcTo wR="152400" hR="152400" stAng="16200000" swAng="5400000"/>
                <a:lnTo>
                  <a:pt x="2489200" y="152400"/>
                </a:lnTo>
                <a:arcTo wR="152400" hR="76200" stAng="0" swAng="-5400000"/>
                <a:lnTo>
                  <a:pt x="152400" y="76200"/>
                </a:lnTo>
                <a:arcTo wR="152400" hR="76200" stAng="16200000" swAng="-5400000"/>
                <a:close/>
              </a:path>
            </a:pathLst>
          </a:custGeom>
          <a:solidFill>
            <a:srgbClr val="C2541E"/>
          </a:solidFill>
          <a:ln/>
        </p:spPr>
      </p:sp>
      <p:sp>
        <p:nvSpPr>
          <p:cNvPr id="11" name="Text 9"/>
          <p:cNvSpPr/>
          <p:nvPr/>
        </p:nvSpPr>
        <p:spPr>
          <a:xfrm>
            <a:off x="3784600" y="2339339"/>
            <a:ext cx="198831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254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위반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84600" y="2679700"/>
            <a:ext cx="1988312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E22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인도 위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784600" y="3155950"/>
            <a:ext cx="1988312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A4F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휠체어·유모차가 지나갈 폭을 막음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97600" y="1983739"/>
            <a:ext cx="2489200" cy="3858260"/>
          </a:xfrm>
          <a:prstGeom prst="roundRect">
            <a:avLst>
              <a:gd name="adj" fmla="val 6122"/>
            </a:avLst>
          </a:prstGeom>
          <a:solidFill>
            <a:srgbClr val="FFFDF8"/>
          </a:solidFill>
          <a:ln/>
        </p:spPr>
      </p:sp>
      <p:sp>
        <p:nvSpPr>
          <p:cNvPr id="15" name="Shape 13"/>
          <p:cNvSpPr/>
          <p:nvPr/>
        </p:nvSpPr>
        <p:spPr>
          <a:xfrm>
            <a:off x="6197600" y="1983739"/>
            <a:ext cx="2489200" cy="3858260"/>
          </a:xfrm>
          <a:custGeom>
            <a:avLst/>
            <a:gdLst/>
            <a:ahLst/>
            <a:cxnLst/>
            <a:rect l="l" t="t" r="r" b="b"/>
            <a:pathLst>
              <a:path w="2489200" h="3858260">
                <a:moveTo>
                  <a:pt x="0" y="152400"/>
                </a:moveTo>
                <a:lnTo>
                  <a:pt x="0" y="152400"/>
                </a:lnTo>
                <a:arcTo wR="152400" hR="152400" stAng="10800000" swAng="5400000"/>
                <a:lnTo>
                  <a:pt x="2336800" y="0"/>
                </a:lnTo>
                <a:arcTo wR="152400" hR="152400" stAng="16200000" swAng="5400000"/>
                <a:lnTo>
                  <a:pt x="2489200" y="152400"/>
                </a:lnTo>
                <a:arcTo wR="152400" hR="76200" stAng="0" swAng="-5400000"/>
                <a:lnTo>
                  <a:pt x="152400" y="76200"/>
                </a:lnTo>
                <a:arcTo wR="152400" hR="76200" stAng="16200000" swAng="-5400000"/>
                <a:close/>
              </a:path>
            </a:pathLst>
          </a:custGeom>
          <a:solidFill>
            <a:srgbClr val="C2541E"/>
          </a:solidFill>
          <a:ln/>
        </p:spPr>
      </p:sp>
      <p:sp>
        <p:nvSpPr>
          <p:cNvPr id="16" name="Text 14"/>
          <p:cNvSpPr/>
          <p:nvPr/>
        </p:nvSpPr>
        <p:spPr>
          <a:xfrm>
            <a:off x="6477000" y="2339339"/>
            <a:ext cx="198831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254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위반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77000" y="2679700"/>
            <a:ext cx="1988312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E22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소화전 주변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77000" y="3155950"/>
            <a:ext cx="1988312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A4F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화재 때 소방차가 소화전을 쓰지 못함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890000" y="1983739"/>
            <a:ext cx="2489200" cy="3858260"/>
          </a:xfrm>
          <a:prstGeom prst="roundRect">
            <a:avLst>
              <a:gd name="adj" fmla="val 6122"/>
            </a:avLst>
          </a:prstGeom>
          <a:solidFill>
            <a:srgbClr val="FFFDF8"/>
          </a:solidFill>
          <a:ln/>
        </p:spPr>
      </p:sp>
      <p:sp>
        <p:nvSpPr>
          <p:cNvPr id="20" name="Shape 18"/>
          <p:cNvSpPr/>
          <p:nvPr/>
        </p:nvSpPr>
        <p:spPr>
          <a:xfrm>
            <a:off x="8890000" y="1983739"/>
            <a:ext cx="2489200" cy="3858260"/>
          </a:xfrm>
          <a:custGeom>
            <a:avLst/>
            <a:gdLst/>
            <a:ahLst/>
            <a:cxnLst/>
            <a:rect l="l" t="t" r="r" b="b"/>
            <a:pathLst>
              <a:path w="2489200" h="3858260">
                <a:moveTo>
                  <a:pt x="0" y="152400"/>
                </a:moveTo>
                <a:lnTo>
                  <a:pt x="0" y="152400"/>
                </a:lnTo>
                <a:arcTo wR="152400" hR="152400" stAng="10800000" swAng="5400000"/>
                <a:lnTo>
                  <a:pt x="2336800" y="0"/>
                </a:lnTo>
                <a:arcTo wR="152400" hR="152400" stAng="16200000" swAng="5400000"/>
                <a:lnTo>
                  <a:pt x="2489200" y="152400"/>
                </a:lnTo>
                <a:arcTo wR="152400" hR="76200" stAng="0" swAng="-5400000"/>
                <a:lnTo>
                  <a:pt x="152400" y="76200"/>
                </a:lnTo>
                <a:arcTo wR="152400" hR="76200" stAng="16200000" swAng="-5400000"/>
                <a:close/>
              </a:path>
            </a:pathLst>
          </a:custGeom>
          <a:solidFill>
            <a:srgbClr val="2F6FB3"/>
          </a:solidFill>
          <a:ln/>
        </p:spPr>
      </p:sp>
      <p:sp>
        <p:nvSpPr>
          <p:cNvPr id="21" name="Text 19"/>
          <p:cNvSpPr/>
          <p:nvPr/>
        </p:nvSpPr>
        <p:spPr>
          <a:xfrm>
            <a:off x="9169400" y="2339339"/>
            <a:ext cx="198831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F6FB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정상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69400" y="2679700"/>
            <a:ext cx="1988312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E22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정상 주차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169400" y="3155950"/>
            <a:ext cx="1988312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A4F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신고 대상이 아님을 안내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07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길터 · 환일 야호 | 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F6FB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시스템 흐름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64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0" i="0" dirty="0">
                <a:solidFill>
                  <a:srgbClr val="1E2227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사진 한 장이 지나가는 길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9150" y="1990092"/>
            <a:ext cx="1430893" cy="1193800"/>
          </a:xfrm>
          <a:prstGeom prst="roundRect">
            <a:avLst>
              <a:gd name="adj" fmla="val 9043"/>
            </a:avLst>
          </a:prstGeom>
          <a:solidFill>
            <a:srgbClr val="E6EFF9"/>
          </a:solidFill>
          <a:ln w="12700">
            <a:solidFill>
              <a:srgbClr val="2F6FB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5360" y="2146300"/>
            <a:ext cx="116927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F6FB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75360" y="2410464"/>
            <a:ext cx="1169273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E22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사진 촬영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319893" y="2390142"/>
            <a:ext cx="304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9AA0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643743" y="1990092"/>
            <a:ext cx="1430893" cy="1193800"/>
          </a:xfrm>
          <a:prstGeom prst="roundRect">
            <a:avLst>
              <a:gd name="adj" fmla="val 9043"/>
            </a:avLst>
          </a:prstGeom>
          <a:solidFill>
            <a:srgbClr val="FFF6DE"/>
          </a:solidFill>
          <a:ln w="12700">
            <a:solidFill>
              <a:srgbClr val="C98A1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99953" y="2146300"/>
            <a:ext cx="116927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A5D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서버 → AI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99953" y="2410464"/>
            <a:ext cx="1169273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E22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유형 · 확신도 판별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37393" y="3291842"/>
            <a:ext cx="1494393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4F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확신도 0.4 미만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4F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재촬영 안내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44486" y="2390142"/>
            <a:ext cx="304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9AA0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468336" y="1990092"/>
            <a:ext cx="1430893" cy="1193800"/>
          </a:xfrm>
          <a:prstGeom prst="roundRect">
            <a:avLst>
              <a:gd name="adj" fmla="val 9043"/>
            </a:avLst>
          </a:prstGeom>
          <a:solidFill>
            <a:srgbClr val="E6EFF9"/>
          </a:solidFill>
          <a:ln w="12700">
            <a:solidFill>
              <a:srgbClr val="2F6FB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24546" y="2146300"/>
            <a:ext cx="116927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F6FB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24546" y="2410464"/>
            <a:ext cx="1169273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E22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 확인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461986" y="3291842"/>
            <a:ext cx="1494393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4F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정상 주차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4F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신고 대상 아님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69079" y="2390142"/>
            <a:ext cx="304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9AA0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292929" y="1990092"/>
            <a:ext cx="1430893" cy="1193800"/>
          </a:xfrm>
          <a:prstGeom prst="roundRect">
            <a:avLst>
              <a:gd name="adj" fmla="val 9043"/>
            </a:avLst>
          </a:prstGeom>
          <a:solidFill>
            <a:srgbClr val="E5F2E9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9139" y="2146300"/>
            <a:ext cx="116927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370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서버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49139" y="2410464"/>
            <a:ext cx="1169273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E22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유형별 안내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93672" y="2390142"/>
            <a:ext cx="304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9AA0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117522" y="1990092"/>
            <a:ext cx="1430893" cy="1193800"/>
          </a:xfrm>
          <a:prstGeom prst="roundRect">
            <a:avLst>
              <a:gd name="adj" fmla="val 9043"/>
            </a:avLst>
          </a:prstGeom>
          <a:solidFill>
            <a:srgbClr val="E6EFF9"/>
          </a:solidFill>
          <a:ln w="12700">
            <a:solidFill>
              <a:srgbClr val="2F6FB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73733" y="2146300"/>
            <a:ext cx="116927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F6FB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73733" y="2410464"/>
            <a:ext cx="1169273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E22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신고 요건 확인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111172" y="3291842"/>
            <a:ext cx="1494393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4F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요건 충족 → 안전신문고 안내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4F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미충족 → 미충족 안내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618266" y="2390142"/>
            <a:ext cx="304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9AA0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9942116" y="1990092"/>
            <a:ext cx="1430893" cy="1193800"/>
          </a:xfrm>
          <a:prstGeom prst="roundRect">
            <a:avLst>
              <a:gd name="adj" fmla="val 9043"/>
            </a:avLst>
          </a:prstGeom>
          <a:solidFill>
            <a:srgbClr val="E5F2E9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98325" y="2146300"/>
            <a:ext cx="116927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370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서버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098325" y="2410464"/>
            <a:ext cx="1169273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E22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판별 기록 저장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935766" y="3291842"/>
            <a:ext cx="1494393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4F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유형·확신도·시각만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4F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사진은 저장 안 함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07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길터 · 환일 야호 | 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F6FB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AI 적용 방식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64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0" i="0" dirty="0">
                <a:solidFill>
                  <a:srgbClr val="1E2227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모델 · 화면 · 서버, 세 부분으로 만들었다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9150" y="1990092"/>
            <a:ext cx="3373993" cy="3845560"/>
          </a:xfrm>
          <a:prstGeom prst="roundRect">
            <a:avLst>
              <a:gd name="adj" fmla="val 4329"/>
            </a:avLst>
          </a:prstGeom>
          <a:solidFill>
            <a:srgbClr val="FFF6DE"/>
          </a:solidFill>
          <a:ln w="12700">
            <a:solidFill>
              <a:srgbClr val="E3C7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7760" y="2298700"/>
            <a:ext cx="283947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A5D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모델 (현재)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27760" y="2639064"/>
            <a:ext cx="2839476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E22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NVIDIA · DeepSeek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72718" y="3101342"/>
            <a:ext cx="2786898" cy="124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9042" indent="-209042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4A4F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생성형 AI가 사진을 보고 유형·확률·판단 근거를 답함</a:t>
            </a:r>
            <a:endParaRPr lang="en-US" sz="1600" dirty="0"/>
          </a:p>
          <a:p>
            <a:pPr marL="209042" indent="-209042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4A4F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없이 아이디어를 먼저 검증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09043" y="1990092"/>
            <a:ext cx="3373993" cy="3845560"/>
          </a:xfrm>
          <a:prstGeom prst="roundRect">
            <a:avLst>
              <a:gd name="adj" fmla="val 4329"/>
            </a:avLst>
          </a:prstGeom>
          <a:solidFill>
            <a:srgbClr val="E6EFF9"/>
          </a:solidFill>
          <a:ln w="12700">
            <a:solidFill>
              <a:srgbClr val="A9C4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17653" y="2298700"/>
            <a:ext cx="283947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F6FB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프론트엔드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17653" y="2639064"/>
            <a:ext cx="2839476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E22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 · Vite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762611" y="3101342"/>
            <a:ext cx="2786898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9042" indent="-209042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4A4F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촬영·업로드·결과·신고 안내 화면</a:t>
            </a:r>
            <a:endParaRPr lang="en-US" sz="1600" dirty="0"/>
          </a:p>
          <a:p>
            <a:pPr marL="209042" indent="-209042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4A4F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인터넷이 끊기면 비상용 mock 모드로 시연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998937" y="1990092"/>
            <a:ext cx="3373993" cy="3845560"/>
          </a:xfrm>
          <a:prstGeom prst="roundRect">
            <a:avLst>
              <a:gd name="adj" fmla="val 4329"/>
            </a:avLst>
          </a:prstGeom>
          <a:solidFill>
            <a:srgbClr val="E5F2E9"/>
          </a:solidFill>
          <a:ln w="12700">
            <a:solidFill>
              <a:srgbClr val="A6D0B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07546" y="2298700"/>
            <a:ext cx="283947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370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백엔드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307546" y="2639064"/>
            <a:ext cx="2839476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E22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Spring Boot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352504" y="3101342"/>
            <a:ext cx="2786898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9042" indent="-209042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4A4F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사진을 검사해 AI에 보내고 응답 형식 검증</a:t>
            </a:r>
            <a:endParaRPr lang="en-US" sz="1600" dirty="0"/>
          </a:p>
          <a:p>
            <a:pPr marL="209042" indent="-209042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4A4F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유형별 안내·판별 기록·통계 제공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07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길터 · 환일 야호 | 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F6FB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변수 정의와 산출식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64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0" i="0" dirty="0">
                <a:solidFill>
                  <a:srgbClr val="1E2227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장벽을 숫자로 보여 준다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9150" y="1939292"/>
            <a:ext cx="2495550" cy="2951480"/>
          </a:xfrm>
          <a:prstGeom prst="roundRect">
            <a:avLst>
              <a:gd name="adj" fmla="val 5852"/>
            </a:avLst>
          </a:prstGeom>
          <a:solidFill>
            <a:srgbClr val="FFFDF8"/>
          </a:solidFill>
          <a:ln w="12700">
            <a:solidFill>
              <a:srgbClr val="DCD8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6960" y="2197100"/>
            <a:ext cx="203932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F6FB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B₁ 통행폭 · 인도 위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76960" y="2499364"/>
            <a:ext cx="2039328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4800" dirty="0">
                <a:solidFill>
                  <a:srgbClr val="C2541E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0.2m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076960" y="3228342"/>
            <a:ext cx="2039328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E22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남은 통행폭 (휠체어 최소 1.2m)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6960" y="3815079"/>
            <a:ext cx="203932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A4F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W_eff = W − 1.8m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A4F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보도 폭 2.0m 기준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05200" y="1939292"/>
            <a:ext cx="2495550" cy="2951480"/>
          </a:xfrm>
          <a:prstGeom prst="roundRect">
            <a:avLst>
              <a:gd name="adj" fmla="val 5852"/>
            </a:avLst>
          </a:prstGeom>
          <a:solidFill>
            <a:srgbClr val="FFFDF8"/>
          </a:solidFill>
          <a:ln w="12700">
            <a:solidFill>
              <a:srgbClr val="DCD8C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63010" y="2197100"/>
            <a:ext cx="203932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F6FB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B₂ 시야 · 횡단보도 위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763010" y="2499364"/>
            <a:ext cx="2039328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4800" dirty="0">
                <a:solidFill>
                  <a:srgbClr val="C2541E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29.7m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3763010" y="3228342"/>
            <a:ext cx="2039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E22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30km/h 차량의 정지거리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63010" y="3566164"/>
            <a:ext cx="203932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A4F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 = v·t + v²/(2fg)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A4F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50km/h면 59.3m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91250" y="1939292"/>
            <a:ext cx="2495550" cy="2951480"/>
          </a:xfrm>
          <a:prstGeom prst="roundRect">
            <a:avLst>
              <a:gd name="adj" fmla="val 5852"/>
            </a:avLst>
          </a:prstGeom>
          <a:solidFill>
            <a:srgbClr val="FFFDF8"/>
          </a:solidFill>
          <a:ln w="12700">
            <a:solidFill>
              <a:srgbClr val="DCD8C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9060" y="2197100"/>
            <a:ext cx="203932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F6FB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B₃ 차도 노출 · 인도 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49060" y="2499364"/>
            <a:ext cx="2039328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4800" dirty="0">
                <a:solidFill>
                  <a:srgbClr val="C2541E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8.1초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6449060" y="3228342"/>
            <a:ext cx="2039328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E22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교통약자가 차도를 걷는 시간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49060" y="3815079"/>
            <a:ext cx="203932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A4F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 = 우회 거리 ÷ 보행 속도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A4F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6.5m ÷ 0.8m/s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877300" y="1939292"/>
            <a:ext cx="2495550" cy="2951480"/>
          </a:xfrm>
          <a:prstGeom prst="roundRect">
            <a:avLst>
              <a:gd name="adj" fmla="val 5852"/>
            </a:avLst>
          </a:prstGeom>
          <a:solidFill>
            <a:srgbClr val="FFFDF8"/>
          </a:solidFill>
          <a:ln w="12700">
            <a:solidFill>
              <a:srgbClr val="DCD8C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35110" y="2197100"/>
            <a:ext cx="203932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F6FB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B₄ 소방 · 소화전 주변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35110" y="2499364"/>
            <a:ext cx="2039328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4800" dirty="0">
                <a:solidFill>
                  <a:srgbClr val="C2541E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5m</a:t>
            </a:r>
            <a:endParaRPr lang="en-US" sz="4800" dirty="0"/>
          </a:p>
        </p:txBody>
      </p:sp>
      <p:sp>
        <p:nvSpPr>
          <p:cNvPr id="22" name="Text 20"/>
          <p:cNvSpPr/>
          <p:nvPr/>
        </p:nvSpPr>
        <p:spPr>
          <a:xfrm>
            <a:off x="9135110" y="3228342"/>
            <a:ext cx="2039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E22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소화전 주정차 금지 거리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35110" y="3566164"/>
            <a:ext cx="203932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A4F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5m 이내면 B₄ = 1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A4F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도로교통법 제32조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2800" y="5201921"/>
            <a:ext cx="10566400" cy="640080"/>
          </a:xfrm>
          <a:prstGeom prst="roundRect">
            <a:avLst>
              <a:gd name="adj" fmla="val 19841"/>
            </a:avLst>
          </a:prstGeom>
          <a:solidFill>
            <a:srgbClr val="1E2227"/>
          </a:solidFill>
          <a:ln/>
        </p:spPr>
      </p:sp>
      <p:sp>
        <p:nvSpPr>
          <p:cNvPr id="25" name="Text 23"/>
          <p:cNvSpPr/>
          <p:nvPr/>
        </p:nvSpPr>
        <p:spPr>
          <a:xfrm>
            <a:off x="1066800" y="5415279"/>
            <a:ext cx="961311" cy="2387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2C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종합 위험 점수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129711" y="5379721"/>
            <a:ext cx="5186743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F5F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 = 100 × p(확신도) × 해당 유형 장벽 지수의 평균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07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길터 · 환일 야호 | 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F6FB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프로토타입 화면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64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0" i="0" dirty="0">
                <a:solidFill>
                  <a:srgbClr val="1E2227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찍고, 판별하고, 보여 준다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32942"/>
            <a:ext cx="2413000" cy="3365500"/>
          </a:xfrm>
          <a:prstGeom prst="roundRect">
            <a:avLst>
              <a:gd name="adj" fmla="val 11579"/>
            </a:avLst>
          </a:prstGeom>
          <a:solidFill>
            <a:srgbClr val="1E2227"/>
          </a:solidFill>
          <a:ln/>
        </p:spPr>
      </p:sp>
      <p:sp>
        <p:nvSpPr>
          <p:cNvPr id="5" name="Shape 3"/>
          <p:cNvSpPr/>
          <p:nvPr/>
        </p:nvSpPr>
        <p:spPr>
          <a:xfrm>
            <a:off x="939800" y="2059942"/>
            <a:ext cx="2159000" cy="3111500"/>
          </a:xfrm>
          <a:prstGeom prst="roundRect">
            <a:avLst>
              <a:gd name="adj" fmla="val 8235"/>
            </a:avLst>
          </a:prstGeom>
          <a:solidFill>
            <a:srgbClr val="FBFAF6"/>
          </a:solidFill>
          <a:ln/>
        </p:spPr>
      </p:sp>
      <p:sp>
        <p:nvSpPr>
          <p:cNvPr id="6" name="Shape 4"/>
          <p:cNvSpPr/>
          <p:nvPr/>
        </p:nvSpPr>
        <p:spPr>
          <a:xfrm>
            <a:off x="1066800" y="2186942"/>
            <a:ext cx="1905000" cy="1397000"/>
          </a:xfrm>
          <a:prstGeom prst="roundRect">
            <a:avLst>
              <a:gd name="adj" fmla="val 7273"/>
            </a:avLst>
          </a:prstGeom>
          <a:gradFill rotWithShape="1">
            <a:gsLst>
              <a:gs pos="0">
                <a:srgbClr val="A7AFB8"/>
              </a:gs>
              <a:gs pos="100000">
                <a:srgbClr val="7D8691"/>
              </a:gs>
            </a:gsLst>
            <a:lin ang="5400000" scaled="0"/>
          </a:gradFill>
          <a:ln/>
        </p:spPr>
      </p:sp>
      <p:sp>
        <p:nvSpPr>
          <p:cNvPr id="7" name="Shape 5"/>
          <p:cNvSpPr/>
          <p:nvPr/>
        </p:nvSpPr>
        <p:spPr>
          <a:xfrm>
            <a:off x="1066800" y="3139442"/>
            <a:ext cx="1905000" cy="444500"/>
          </a:xfrm>
          <a:prstGeom prst="rect">
            <a:avLst/>
          </a:prstGeom>
          <a:gradFill rotWithShape="1">
            <a:gsLst>
              <a:gs pos="0">
                <a:srgbClr val="E9E6DE"/>
              </a:gs>
              <a:gs pos="50000">
                <a:srgbClr val="E9E6DE"/>
              </a:gs>
              <a:gs pos="50000">
                <a:srgbClr val="7D8691"/>
              </a:gs>
              <a:gs pos="100000">
                <a:srgbClr val="7D8691"/>
              </a:gs>
            </a:gsLst>
            <a:lin ang="0" scaled="0"/>
          </a:gradFill>
          <a:ln/>
        </p:spPr>
      </p:sp>
      <p:sp>
        <p:nvSpPr>
          <p:cNvPr id="8" name="Shape 6"/>
          <p:cNvSpPr/>
          <p:nvPr/>
        </p:nvSpPr>
        <p:spPr>
          <a:xfrm>
            <a:off x="1511300" y="2694942"/>
            <a:ext cx="1016000" cy="609600"/>
          </a:xfrm>
          <a:prstGeom prst="roundRect">
            <a:avLst>
              <a:gd name="adj" fmla="val 22917"/>
            </a:avLst>
          </a:prstGeom>
          <a:solidFill>
            <a:srgbClr val="2F3640"/>
          </a:solidFill>
          <a:ln/>
        </p:spPr>
      </p:sp>
      <p:sp>
        <p:nvSpPr>
          <p:cNvPr id="9" name="Shape 7"/>
          <p:cNvSpPr/>
          <p:nvPr/>
        </p:nvSpPr>
        <p:spPr>
          <a:xfrm>
            <a:off x="1362075" y="2558417"/>
            <a:ext cx="1314450" cy="857250"/>
          </a:xfrm>
          <a:prstGeom prst="roundRect">
            <a:avLst>
              <a:gd name="adj" fmla="val 5556"/>
            </a:avLst>
          </a:prstGeom>
          <a:noFill/>
          <a:ln w="31750">
            <a:solidFill>
              <a:srgbClr val="C2541E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1066800" y="3672842"/>
            <a:ext cx="1905000" cy="314960"/>
          </a:xfrm>
          <a:prstGeom prst="roundRect">
            <a:avLst>
              <a:gd name="adj" fmla="val 50000"/>
            </a:avLst>
          </a:prstGeom>
          <a:solidFill>
            <a:srgbClr val="C2541E"/>
          </a:solidFill>
          <a:ln/>
        </p:spPr>
        <p:txBody>
          <a:bodyPr wrap="square" lIns="29949" tIns="4676" rIns="29949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위반 · 횡단보도 위 87%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66800" y="4076700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E22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횡단보도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892300" y="4138929"/>
            <a:ext cx="825500" cy="88900"/>
          </a:xfrm>
          <a:prstGeom prst="roundRect">
            <a:avLst>
              <a:gd name="adj" fmla="val 50000"/>
            </a:avLst>
          </a:prstGeom>
          <a:solidFill>
            <a:srgbClr val="C2541E"/>
          </a:solidFill>
          <a:ln/>
        </p:spPr>
      </p:sp>
      <p:sp>
        <p:nvSpPr>
          <p:cNvPr id="13" name="Text 11"/>
          <p:cNvSpPr/>
          <p:nvPr/>
        </p:nvSpPr>
        <p:spPr>
          <a:xfrm>
            <a:off x="1066800" y="4328164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E22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인도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892300" y="4390392"/>
            <a:ext cx="76200" cy="88900"/>
          </a:xfrm>
          <a:prstGeom prst="roundRect">
            <a:avLst>
              <a:gd name="adj" fmla="val 50000"/>
            </a:avLst>
          </a:prstGeom>
          <a:solidFill>
            <a:srgbClr val="9AA0A8"/>
          </a:solidFill>
          <a:ln/>
        </p:spPr>
      </p:sp>
      <p:sp>
        <p:nvSpPr>
          <p:cNvPr id="15" name="Text 13"/>
          <p:cNvSpPr/>
          <p:nvPr/>
        </p:nvSpPr>
        <p:spPr>
          <a:xfrm>
            <a:off x="1066800" y="4579621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E22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소화전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892300" y="4641850"/>
            <a:ext cx="38100" cy="88900"/>
          </a:xfrm>
          <a:prstGeom prst="roundRect">
            <a:avLst>
              <a:gd name="adj" fmla="val 50000"/>
            </a:avLst>
          </a:prstGeom>
          <a:solidFill>
            <a:srgbClr val="9AA0A8"/>
          </a:solidFill>
          <a:ln/>
        </p:spPr>
      </p:sp>
      <p:sp>
        <p:nvSpPr>
          <p:cNvPr id="17" name="Text 15"/>
          <p:cNvSpPr/>
          <p:nvPr/>
        </p:nvSpPr>
        <p:spPr>
          <a:xfrm>
            <a:off x="1066800" y="4831079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E22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정상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892300" y="4893314"/>
            <a:ext cx="25400" cy="88900"/>
          </a:xfrm>
          <a:prstGeom prst="roundRect">
            <a:avLst>
              <a:gd name="adj" fmla="val 50000"/>
            </a:avLst>
          </a:prstGeom>
          <a:solidFill>
            <a:srgbClr val="9AA0A8"/>
          </a:solidFill>
          <a:ln/>
        </p:spPr>
      </p:sp>
      <p:sp>
        <p:nvSpPr>
          <p:cNvPr id="19" name="Text 17"/>
          <p:cNvSpPr/>
          <p:nvPr/>
        </p:nvSpPr>
        <p:spPr>
          <a:xfrm>
            <a:off x="3683000" y="1932942"/>
            <a:ext cx="7927086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E22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카메라 위치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683000" y="2258064"/>
            <a:ext cx="792708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4A4F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휴대폰 후면 카메라로 차량을 약 45° 비스듬히, 2~3m 거리에서 촬영. 차량과 바닥 표시가 한 화면에 담기도록 촬영 팁을 보여 줍니다.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683000" y="3020064"/>
            <a:ext cx="7927086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E22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인식 결과 화면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683000" y="3345179"/>
            <a:ext cx="792708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4A4F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안내 박스의 색과 문구로 위반·정상을 표시하고, 유형별 확률 막대를 보여 줍니다. AI의 판단 근거도 함께 보여 주고, 확신도 40% 미만이면 재촬영을 안내합니다.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683000" y="4107179"/>
            <a:ext cx="7927086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E22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데이터 입출력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683000" y="4470400"/>
            <a:ext cx="483632" cy="314960"/>
          </a:xfrm>
          <a:prstGeom prst="roundRect">
            <a:avLst>
              <a:gd name="adj" fmla="val 20161"/>
            </a:avLst>
          </a:prstGeom>
          <a:solidFill>
            <a:srgbClr val="E6EFF9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1E22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사진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230132" y="4521200"/>
            <a:ext cx="2032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0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446032" y="4470400"/>
            <a:ext cx="1177687" cy="314960"/>
          </a:xfrm>
          <a:prstGeom prst="roundRect">
            <a:avLst>
              <a:gd name="adj" fmla="val 20161"/>
            </a:avLst>
          </a:prstGeom>
          <a:solidFill>
            <a:srgbClr val="E6EFF9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1E22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1024px 축소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687219" y="4521200"/>
            <a:ext cx="2032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0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03119" y="4470400"/>
            <a:ext cx="943134" cy="314960"/>
          </a:xfrm>
          <a:prstGeom prst="roundRect">
            <a:avLst>
              <a:gd name="adj" fmla="val 20161"/>
            </a:avLst>
          </a:prstGeom>
          <a:solidFill>
            <a:srgbClr val="FFF6D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1E22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서버 → AI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909753" y="4521200"/>
            <a:ext cx="2032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0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125653" y="4470400"/>
            <a:ext cx="1057116" cy="314960"/>
          </a:xfrm>
          <a:prstGeom prst="roundRect">
            <a:avLst>
              <a:gd name="adj" fmla="val 20161"/>
            </a:avLst>
          </a:prstGeom>
          <a:solidFill>
            <a:srgbClr val="FFF6D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1E22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유형·확률·근거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46269" y="4521200"/>
            <a:ext cx="2032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0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462169" y="4470400"/>
            <a:ext cx="1274763" cy="314960"/>
          </a:xfrm>
          <a:prstGeom prst="roundRect">
            <a:avLst>
              <a:gd name="adj" fmla="val 20161"/>
            </a:avLst>
          </a:prstGeom>
          <a:solidFill>
            <a:srgbClr val="E5F2E9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1E22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서버: 안내 · 기록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07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길터 · 환일 야호 | 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AE7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F6FB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 예측되는 시스템 오류와 대응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64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0" i="0" dirty="0">
                <a:solidFill>
                  <a:srgbClr val="1E2227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틀릴 수 있는 곳을 미리 막는다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32942"/>
            <a:ext cx="10566400" cy="2719070"/>
          </a:xfrm>
          <a:prstGeom prst="rect">
            <a:avLst/>
          </a:prstGeom>
          <a:solidFill>
            <a:srgbClr val="FFFDF8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943102"/>
          <a:ext cx="10556240" cy="2708910"/>
        </p:xfrm>
        <a:graphic>
          <a:graphicData uri="http://schemas.openxmlformats.org/drawingml/2006/table">
            <a:tbl>
              <a:tblPr/>
              <a:tblGrid>
                <a:gridCol w="14778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46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46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891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5F3E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구분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F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F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5F3E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오류 상황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1C1F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F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F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5F3E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원인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1C1F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F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F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5F3E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대응 전략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1C1F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F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F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801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E22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AI 모델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F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E22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실제 도로 사진을 잘못 판별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F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E22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애매한 사진, 생성형 AI의 오판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F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E22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확률·판단 근거를 함께 보여 주고, 확신도가 낮으면 재촬영 안내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F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801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E22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시스템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E22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AI 응답 지연·실패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E22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외부 AI 서버 혼잡, 인터넷 끊김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E22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최대 1분 기다린 뒤 다시 시도 안내, 발표용 비상 mock 모드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801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E22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시스템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E22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카메라가 열리지 않음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E22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브라우저 권한 거부, HTTPS가 아닌 접속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E22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HTTPS로 배포, 권한이 없으면 갤러리에서 사진 올리기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801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E22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사용·판정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E22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사진만으로 법적 요건 판단 불가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E22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10m·5m 거리, 주차 시간은 사진으로 알 수 없음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E222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신고 요건 체크리스트로 확인한 뒤 ‘신고 가능’ 안내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07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길터 · 환일 야호 | 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F6FB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 AI 윤리 검증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64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0" i="0" dirty="0">
                <a:solidFill>
                  <a:srgbClr val="1E2227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믿을 수 있는 판별을 위해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32942"/>
            <a:ext cx="5194300" cy="1391920"/>
          </a:xfrm>
          <a:prstGeom prst="roundRect">
            <a:avLst>
              <a:gd name="adj" fmla="val 10949"/>
            </a:avLst>
          </a:prstGeom>
          <a:solidFill>
            <a:srgbClr val="FFFDF8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932942"/>
            <a:ext cx="5194300" cy="1391920"/>
          </a:xfrm>
          <a:custGeom>
            <a:avLst/>
            <a:gdLst/>
            <a:ahLst/>
            <a:cxnLst/>
            <a:rect l="l" t="t" r="r" b="b"/>
            <a:pathLst>
              <a:path w="5194300" h="1391920">
                <a:moveTo>
                  <a:pt x="152400" y="1391920"/>
                </a:moveTo>
                <a:lnTo>
                  <a:pt x="152400" y="1391920"/>
                </a:lnTo>
                <a:arcTo wR="152400" hR="152400" stAng="5400000" swAng="5400000"/>
                <a:lnTo>
                  <a:pt x="0" y="152400"/>
                </a:lnTo>
                <a:arcTo wR="152400" hR="152400" stAng="10800000" swAng="5400000"/>
                <a:lnTo>
                  <a:pt x="152400" y="0"/>
                </a:lnTo>
                <a:arcTo wR="88900" hR="152400" stAng="16200000" swAng="-5400000"/>
                <a:lnTo>
                  <a:pt x="63500" y="1239520"/>
                </a:lnTo>
                <a:arcTo wR="88900" hR="152400" stAng="10800000" swAng="-5400000"/>
                <a:close/>
              </a:path>
            </a:pathLst>
          </a:custGeom>
          <a:solidFill>
            <a:srgbClr val="C2541E"/>
          </a:solidFill>
          <a:ln/>
        </p:spPr>
      </p:sp>
      <p:sp>
        <p:nvSpPr>
          <p:cNvPr id="6" name="Text 4"/>
          <p:cNvSpPr/>
          <p:nvPr/>
        </p:nvSpPr>
        <p:spPr>
          <a:xfrm>
            <a:off x="1127760" y="2186942"/>
            <a:ext cx="476410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E22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할루시네이션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27760" y="2537464"/>
            <a:ext cx="47641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4A4F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정해진 4가지 유형·형식으로만 답하게 하고 서버가 검증. 근거를 함께 보여 주고 ‘AI 판별은 참고용’으로 안내.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84900" y="1932942"/>
            <a:ext cx="5194300" cy="1391920"/>
          </a:xfrm>
          <a:prstGeom prst="roundRect">
            <a:avLst>
              <a:gd name="adj" fmla="val 10949"/>
            </a:avLst>
          </a:prstGeom>
          <a:solidFill>
            <a:srgbClr val="FFFDF8"/>
          </a:solidFill>
          <a:ln/>
        </p:spPr>
      </p:sp>
      <p:sp>
        <p:nvSpPr>
          <p:cNvPr id="9" name="Shape 7"/>
          <p:cNvSpPr/>
          <p:nvPr/>
        </p:nvSpPr>
        <p:spPr>
          <a:xfrm>
            <a:off x="6184900" y="1932942"/>
            <a:ext cx="5194300" cy="1391920"/>
          </a:xfrm>
          <a:custGeom>
            <a:avLst/>
            <a:gdLst/>
            <a:ahLst/>
            <a:cxnLst/>
            <a:rect l="l" t="t" r="r" b="b"/>
            <a:pathLst>
              <a:path w="5194300" h="1391920">
                <a:moveTo>
                  <a:pt x="152400" y="1391920"/>
                </a:moveTo>
                <a:lnTo>
                  <a:pt x="152400" y="1391920"/>
                </a:lnTo>
                <a:arcTo wR="152400" hR="152400" stAng="5400000" swAng="5400000"/>
                <a:lnTo>
                  <a:pt x="0" y="152400"/>
                </a:lnTo>
                <a:arcTo wR="152400" hR="152400" stAng="10800000" swAng="5400000"/>
                <a:lnTo>
                  <a:pt x="152400" y="0"/>
                </a:lnTo>
                <a:arcTo wR="88900" hR="152400" stAng="16200000" swAng="-5400000"/>
                <a:lnTo>
                  <a:pt x="63500" y="1239520"/>
                </a:lnTo>
                <a:arcTo wR="88900" hR="152400" stAng="10800000" swAng="-5400000"/>
                <a:close/>
              </a:path>
            </a:pathLst>
          </a:custGeom>
          <a:solidFill>
            <a:srgbClr val="2F6FB3"/>
          </a:solidFill>
          <a:ln/>
        </p:spPr>
      </p:sp>
      <p:sp>
        <p:nvSpPr>
          <p:cNvPr id="10" name="Text 8"/>
          <p:cNvSpPr/>
          <p:nvPr/>
        </p:nvSpPr>
        <p:spPr>
          <a:xfrm>
            <a:off x="6499860" y="2186942"/>
            <a:ext cx="476410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E22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개인정보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9860" y="2537464"/>
            <a:ext cx="47641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4A4F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분석할 때만 사진을 외부 AI로 보내고 서버에는 저장하지 않음. 번호판·얼굴 없는 사진을 쓰도록 안내.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2800" y="3502664"/>
            <a:ext cx="5194300" cy="1391920"/>
          </a:xfrm>
          <a:prstGeom prst="roundRect">
            <a:avLst>
              <a:gd name="adj" fmla="val 10949"/>
            </a:avLst>
          </a:prstGeom>
          <a:solidFill>
            <a:srgbClr val="FFFDF8"/>
          </a:solidFill>
          <a:ln/>
        </p:spPr>
      </p:sp>
      <p:sp>
        <p:nvSpPr>
          <p:cNvPr id="13" name="Shape 11"/>
          <p:cNvSpPr/>
          <p:nvPr/>
        </p:nvSpPr>
        <p:spPr>
          <a:xfrm>
            <a:off x="812800" y="3502664"/>
            <a:ext cx="5194300" cy="1391920"/>
          </a:xfrm>
          <a:custGeom>
            <a:avLst/>
            <a:gdLst/>
            <a:ahLst/>
            <a:cxnLst/>
            <a:rect l="l" t="t" r="r" b="b"/>
            <a:pathLst>
              <a:path w="5194300" h="1391920">
                <a:moveTo>
                  <a:pt x="152400" y="1391920"/>
                </a:moveTo>
                <a:lnTo>
                  <a:pt x="152400" y="1391920"/>
                </a:lnTo>
                <a:arcTo wR="152400" hR="152400" stAng="5400000" swAng="5400000"/>
                <a:lnTo>
                  <a:pt x="0" y="152400"/>
                </a:lnTo>
                <a:arcTo wR="152400" hR="152400" stAng="10800000" swAng="5400000"/>
                <a:lnTo>
                  <a:pt x="152400" y="0"/>
                </a:lnTo>
                <a:arcTo wR="88900" hR="152400" stAng="16200000" swAng="-5400000"/>
                <a:lnTo>
                  <a:pt x="63500" y="1239520"/>
                </a:lnTo>
                <a:arcTo wR="88900" hR="152400" stAng="10800000" swAng="-5400000"/>
                <a:close/>
              </a:path>
            </a:pathLst>
          </a:custGeom>
          <a:solidFill>
            <a:srgbClr val="2E8B57"/>
          </a:solidFill>
          <a:ln/>
        </p:spPr>
      </p:sp>
      <p:sp>
        <p:nvSpPr>
          <p:cNvPr id="14" name="Text 12"/>
          <p:cNvSpPr/>
          <p:nvPr/>
        </p:nvSpPr>
        <p:spPr>
          <a:xfrm>
            <a:off x="1127760" y="3756664"/>
            <a:ext cx="476410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E22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저작권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27760" y="4107179"/>
            <a:ext cx="47641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4A4F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학습용 사진은 팀이 직접 촬영. 오픈소스 라이선스와 글꼴·아이콘 출처를 표기.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84900" y="3502664"/>
            <a:ext cx="5194300" cy="1391920"/>
          </a:xfrm>
          <a:prstGeom prst="roundRect">
            <a:avLst>
              <a:gd name="adj" fmla="val 10949"/>
            </a:avLst>
          </a:prstGeom>
          <a:solidFill>
            <a:srgbClr val="FFFDF8"/>
          </a:solidFill>
          <a:ln/>
        </p:spPr>
      </p:sp>
      <p:sp>
        <p:nvSpPr>
          <p:cNvPr id="17" name="Shape 15"/>
          <p:cNvSpPr/>
          <p:nvPr/>
        </p:nvSpPr>
        <p:spPr>
          <a:xfrm>
            <a:off x="6184900" y="3502664"/>
            <a:ext cx="5194300" cy="1391920"/>
          </a:xfrm>
          <a:custGeom>
            <a:avLst/>
            <a:gdLst/>
            <a:ahLst/>
            <a:cxnLst/>
            <a:rect l="l" t="t" r="r" b="b"/>
            <a:pathLst>
              <a:path w="5194300" h="1391920">
                <a:moveTo>
                  <a:pt x="152400" y="1391920"/>
                </a:moveTo>
                <a:lnTo>
                  <a:pt x="152400" y="1391920"/>
                </a:lnTo>
                <a:arcTo wR="152400" hR="152400" stAng="5400000" swAng="5400000"/>
                <a:lnTo>
                  <a:pt x="0" y="152400"/>
                </a:lnTo>
                <a:arcTo wR="152400" hR="152400" stAng="10800000" swAng="5400000"/>
                <a:lnTo>
                  <a:pt x="152400" y="0"/>
                </a:lnTo>
                <a:arcTo wR="88900" hR="152400" stAng="16200000" swAng="-5400000"/>
                <a:lnTo>
                  <a:pt x="63500" y="1239520"/>
                </a:lnTo>
                <a:arcTo wR="88900" hR="152400" stAng="10800000" swAng="-5400000"/>
                <a:close/>
              </a:path>
            </a:pathLst>
          </a:custGeom>
          <a:solidFill>
            <a:srgbClr val="8A5D00"/>
          </a:solidFill>
          <a:ln/>
        </p:spPr>
      </p:sp>
      <p:sp>
        <p:nvSpPr>
          <p:cNvPr id="18" name="Text 16"/>
          <p:cNvSpPr/>
          <p:nvPr/>
        </p:nvSpPr>
        <p:spPr>
          <a:xfrm>
            <a:off x="6499860" y="3756664"/>
            <a:ext cx="476410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E22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편향 · 악용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99860" y="4107179"/>
            <a:ext cx="47641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4A4F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여러 색·크기의 모형 차량으로 촬영하고 차종별 정확도를 비교해 보충. 신고는 실명 절차가 있는 안전신문고로 연결.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07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길터 · 환일 야호 | 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AE7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F6FB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 앞으로의 계획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64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0" i="0" dirty="0">
                <a:solidFill>
                  <a:srgbClr val="1E2227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더 많은 장벽을, 더 많은 사람에게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83742"/>
            <a:ext cx="2508250" cy="3858260"/>
          </a:xfrm>
          <a:prstGeom prst="roundRect">
            <a:avLst>
              <a:gd name="adj" fmla="val 6076"/>
            </a:avLst>
          </a:prstGeom>
          <a:solidFill>
            <a:srgbClr val="FFFDF8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983742"/>
            <a:ext cx="2508250" cy="3858260"/>
          </a:xfrm>
          <a:custGeom>
            <a:avLst/>
            <a:gdLst/>
            <a:ahLst/>
            <a:cxnLst/>
            <a:rect l="l" t="t" r="r" b="b"/>
            <a:pathLst>
              <a:path w="2508250" h="3858260">
                <a:moveTo>
                  <a:pt x="0" y="152400"/>
                </a:moveTo>
                <a:lnTo>
                  <a:pt x="0" y="152400"/>
                </a:lnTo>
                <a:arcTo wR="152400" hR="152400" stAng="10800000" swAng="5400000"/>
                <a:lnTo>
                  <a:pt x="2355850" y="0"/>
                </a:lnTo>
                <a:arcTo wR="152400" hR="152400" stAng="16200000" swAng="5400000"/>
                <a:lnTo>
                  <a:pt x="2508250" y="152400"/>
                </a:lnTo>
                <a:arcTo wR="152400" hR="101600" stAng="0" swAng="-5400000"/>
                <a:lnTo>
                  <a:pt x="152400" y="50800"/>
                </a:lnTo>
                <a:arcTo wR="152400" hR="101600" stAng="16200000" swAng="-5400000"/>
                <a:close/>
              </a:path>
            </a:pathLst>
          </a:custGeom>
          <a:solidFill>
            <a:srgbClr val="F2C230"/>
          </a:solidFill>
          <a:ln/>
        </p:spPr>
      </p:sp>
      <p:sp>
        <p:nvSpPr>
          <p:cNvPr id="6" name="Text 4"/>
          <p:cNvSpPr/>
          <p:nvPr/>
        </p:nvSpPr>
        <p:spPr>
          <a:xfrm>
            <a:off x="1066800" y="2288542"/>
            <a:ext cx="206025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A5D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1단계 · 모델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66800" y="2603500"/>
            <a:ext cx="2060257" cy="32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E22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 학습 모델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66800" y="3002285"/>
            <a:ext cx="2060257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4A4F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모형·실제 사진으로 티처블 머신을 학습해, 사진이 기기 밖으로 나가지 않게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98850" y="1983742"/>
            <a:ext cx="2508250" cy="3858260"/>
          </a:xfrm>
          <a:prstGeom prst="roundRect">
            <a:avLst>
              <a:gd name="adj" fmla="val 6076"/>
            </a:avLst>
          </a:prstGeom>
          <a:solidFill>
            <a:srgbClr val="FFFDF8"/>
          </a:solidFill>
          <a:ln/>
        </p:spPr>
      </p:sp>
      <p:sp>
        <p:nvSpPr>
          <p:cNvPr id="10" name="Shape 8"/>
          <p:cNvSpPr/>
          <p:nvPr/>
        </p:nvSpPr>
        <p:spPr>
          <a:xfrm>
            <a:off x="3498850" y="1983742"/>
            <a:ext cx="2508250" cy="3858260"/>
          </a:xfrm>
          <a:custGeom>
            <a:avLst/>
            <a:gdLst/>
            <a:ahLst/>
            <a:cxnLst/>
            <a:rect l="l" t="t" r="r" b="b"/>
            <a:pathLst>
              <a:path w="2508250" h="3858260">
                <a:moveTo>
                  <a:pt x="0" y="152400"/>
                </a:moveTo>
                <a:lnTo>
                  <a:pt x="0" y="152400"/>
                </a:lnTo>
                <a:arcTo wR="152400" hR="152400" stAng="10800000" swAng="5400000"/>
                <a:lnTo>
                  <a:pt x="2355850" y="0"/>
                </a:lnTo>
                <a:arcTo wR="152400" hR="152400" stAng="16200000" swAng="5400000"/>
                <a:lnTo>
                  <a:pt x="2508250" y="152400"/>
                </a:lnTo>
                <a:arcTo wR="152400" hR="101600" stAng="0" swAng="-5400000"/>
                <a:lnTo>
                  <a:pt x="152400" y="50800"/>
                </a:lnTo>
                <a:arcTo wR="152400" hR="101600" stAng="16200000" swAng="-5400000"/>
                <a:close/>
              </a:path>
            </a:pathLst>
          </a:custGeom>
          <a:solidFill>
            <a:srgbClr val="F2C230"/>
          </a:solidFill>
          <a:ln/>
        </p:spPr>
      </p:sp>
      <p:sp>
        <p:nvSpPr>
          <p:cNvPr id="11" name="Text 9"/>
          <p:cNvSpPr/>
          <p:nvPr/>
        </p:nvSpPr>
        <p:spPr>
          <a:xfrm>
            <a:off x="3752850" y="2288542"/>
            <a:ext cx="206025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A5D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2단계 · 서버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52850" y="2603500"/>
            <a:ext cx="2060257" cy="32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E22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장벽 지수 계산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52850" y="3002285"/>
            <a:ext cx="2060257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4A4F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보도 폭 등 추가 정보를 받아 장벽 지수·위험 점수를 계산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84900" y="1983742"/>
            <a:ext cx="2508250" cy="3858260"/>
          </a:xfrm>
          <a:prstGeom prst="roundRect">
            <a:avLst>
              <a:gd name="adj" fmla="val 6076"/>
            </a:avLst>
          </a:prstGeom>
          <a:solidFill>
            <a:srgbClr val="FFFDF8"/>
          </a:solidFill>
          <a:ln/>
        </p:spPr>
      </p:sp>
      <p:sp>
        <p:nvSpPr>
          <p:cNvPr id="15" name="Shape 13"/>
          <p:cNvSpPr/>
          <p:nvPr/>
        </p:nvSpPr>
        <p:spPr>
          <a:xfrm>
            <a:off x="6184900" y="1983742"/>
            <a:ext cx="2508250" cy="3858260"/>
          </a:xfrm>
          <a:custGeom>
            <a:avLst/>
            <a:gdLst/>
            <a:ahLst/>
            <a:cxnLst/>
            <a:rect l="l" t="t" r="r" b="b"/>
            <a:pathLst>
              <a:path w="2508250" h="3858260">
                <a:moveTo>
                  <a:pt x="0" y="152400"/>
                </a:moveTo>
                <a:lnTo>
                  <a:pt x="0" y="152400"/>
                </a:lnTo>
                <a:arcTo wR="152400" hR="152400" stAng="10800000" swAng="5400000"/>
                <a:lnTo>
                  <a:pt x="2355850" y="0"/>
                </a:lnTo>
                <a:arcTo wR="152400" hR="152400" stAng="16200000" swAng="5400000"/>
                <a:lnTo>
                  <a:pt x="2508250" y="152400"/>
                </a:lnTo>
                <a:arcTo wR="152400" hR="101600" stAng="0" swAng="-5400000"/>
                <a:lnTo>
                  <a:pt x="152400" y="50800"/>
                </a:lnTo>
                <a:arcTo wR="152400" hR="101600" stAng="16200000" swAng="-5400000"/>
                <a:close/>
              </a:path>
            </a:pathLst>
          </a:custGeom>
          <a:solidFill>
            <a:srgbClr val="F2C230"/>
          </a:solidFill>
          <a:ln/>
        </p:spPr>
      </p:sp>
      <p:sp>
        <p:nvSpPr>
          <p:cNvPr id="16" name="Text 14"/>
          <p:cNvSpPr/>
          <p:nvPr/>
        </p:nvSpPr>
        <p:spPr>
          <a:xfrm>
            <a:off x="6438900" y="2288542"/>
            <a:ext cx="206025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A5D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3단계 · 모델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38900" y="2603500"/>
            <a:ext cx="2060257" cy="32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E22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판별 유형 확장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38900" y="3002285"/>
            <a:ext cx="2060257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4A4F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점자블록 위, 버스정류장 앞, 교차로 모퉁이를 더해 7가지로 분류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870950" y="1983742"/>
            <a:ext cx="2508250" cy="3858260"/>
          </a:xfrm>
          <a:prstGeom prst="roundRect">
            <a:avLst>
              <a:gd name="adj" fmla="val 6076"/>
            </a:avLst>
          </a:prstGeom>
          <a:solidFill>
            <a:srgbClr val="FFFDF8"/>
          </a:solidFill>
          <a:ln/>
        </p:spPr>
      </p:sp>
      <p:sp>
        <p:nvSpPr>
          <p:cNvPr id="20" name="Shape 18"/>
          <p:cNvSpPr/>
          <p:nvPr/>
        </p:nvSpPr>
        <p:spPr>
          <a:xfrm>
            <a:off x="8870950" y="1983742"/>
            <a:ext cx="2508250" cy="3858260"/>
          </a:xfrm>
          <a:custGeom>
            <a:avLst/>
            <a:gdLst/>
            <a:ahLst/>
            <a:cxnLst/>
            <a:rect l="l" t="t" r="r" b="b"/>
            <a:pathLst>
              <a:path w="2508250" h="3858260">
                <a:moveTo>
                  <a:pt x="0" y="152400"/>
                </a:moveTo>
                <a:lnTo>
                  <a:pt x="0" y="152400"/>
                </a:lnTo>
                <a:arcTo wR="152400" hR="152400" stAng="10800000" swAng="5400000"/>
                <a:lnTo>
                  <a:pt x="2355850" y="0"/>
                </a:lnTo>
                <a:arcTo wR="152400" hR="152400" stAng="16200000" swAng="5400000"/>
                <a:lnTo>
                  <a:pt x="2508250" y="152400"/>
                </a:lnTo>
                <a:arcTo wR="152400" hR="101600" stAng="0" swAng="-5400000"/>
                <a:lnTo>
                  <a:pt x="152400" y="50800"/>
                </a:lnTo>
                <a:arcTo wR="152400" hR="101600" stAng="16200000" swAng="-5400000"/>
                <a:close/>
              </a:path>
            </a:pathLst>
          </a:custGeom>
          <a:solidFill>
            <a:srgbClr val="F2C230"/>
          </a:solidFill>
          <a:ln/>
        </p:spPr>
      </p:sp>
      <p:sp>
        <p:nvSpPr>
          <p:cNvPr id="21" name="Text 19"/>
          <p:cNvSpPr/>
          <p:nvPr/>
        </p:nvSpPr>
        <p:spPr>
          <a:xfrm>
            <a:off x="9124950" y="2288542"/>
            <a:ext cx="206025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A5D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4단계 · 데이터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24950" y="2603500"/>
            <a:ext cx="2060257" cy="32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E22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장벽 지도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124950" y="3002285"/>
            <a:ext cx="2060257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4A4F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동의한 기록만 동네 단위로 모아 지도로 표시하고 지자체에 제안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07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길터 · 환일 야호 | 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C2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0" y="0"/>
            <a:ext cx="4064000" cy="6858000"/>
          </a:xfrm>
          <a:prstGeom prst="rect">
            <a:avLst/>
          </a:prstGeom>
          <a:gradFill rotWithShape="1">
            <a:gsLst>
              <a:gs pos="0">
                <a:srgbClr val="1E2227">
                  <a:alpha val="8000"/>
                </a:srgbClr>
              </a:gs>
              <a:gs pos="50000">
                <a:srgbClr val="1E2227">
                  <a:alpha val="8000"/>
                </a:srgbClr>
              </a:gs>
              <a:gs pos="50000">
                <a:srgbClr val="F2C230">
                  <a:alpha val="8000"/>
                </a:srgbClr>
              </a:gs>
              <a:gs pos="100000">
                <a:srgbClr val="F2C230">
                  <a:alpha val="8000"/>
                </a:srgbClr>
              </a:gs>
            </a:gsLst>
            <a:lin ang="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1442727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kern="0" spc="100" dirty="0">
                <a:solidFill>
                  <a:srgbClr val="1E22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 효과</a:t>
            </a:r>
            <a:endParaRPr lang="en-US" sz="16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2032000"/>
            <a:ext cx="8502650" cy="1427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0000"/>
          </a:bodyPr>
          <a:lstStyle/>
          <a:p>
            <a:pPr marL="0" indent="0" algn="l">
              <a:lnSpc>
                <a:spcPts val="5520"/>
              </a:lnSpc>
              <a:buNone/>
            </a:pPr>
            <a:r>
              <a:rPr lang="en-US" sz="4800" b="0" i="0" dirty="0">
                <a:solidFill>
                  <a:srgbClr val="1E2227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누구나 신고 대상인지 바로 알고,</a:t>
            </a:r>
            <a:endParaRPr lang="en-US" sz="4800" dirty="0"/>
          </a:p>
          <a:p>
            <a:pPr marL="0" indent="0" algn="l">
              <a:lnSpc>
                <a:spcPts val="5520"/>
              </a:lnSpc>
              <a:buNone/>
            </a:pPr>
            <a:r>
              <a:rPr lang="en-US" sz="4800" b="0" i="0" dirty="0">
                <a:solidFill>
                  <a:srgbClr val="1E2227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막힌 길은 다시 열린다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30834" y="3738885"/>
            <a:ext cx="8476996" cy="756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5966" indent="-235966" algn="l">
              <a:lnSpc>
                <a:spcPts val="2880"/>
              </a:lnSpc>
              <a:buSzPct val="100000"/>
              <a:buChar char="•"/>
            </a:pPr>
            <a:r>
              <a:rPr lang="en-US" sz="1800" dirty="0">
                <a:solidFill>
                  <a:srgbClr val="1E22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올바른 신고가 늘어 보행자 안전에 기여</a:t>
            </a:r>
            <a:endParaRPr lang="en-US" sz="1800" dirty="0"/>
          </a:p>
          <a:p>
            <a:pPr marL="235966" indent="-235966" algn="l">
              <a:lnSpc>
                <a:spcPts val="2880"/>
              </a:lnSpc>
              <a:buSzPct val="100000"/>
              <a:buChar char="•"/>
            </a:pPr>
            <a:r>
              <a:rPr lang="en-US" sz="1800" dirty="0">
                <a:solidFill>
                  <a:srgbClr val="1E22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요건에 맞지 않는 신고가 줄어 담당 기관의 부담 감소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2800" y="4775200"/>
            <a:ext cx="10883392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dirty="0">
                <a:solidFill>
                  <a:srgbClr val="1E2227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감사합니다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길터 – AI 불법 주정차 판별">
  <a:themeElements>
    <a:clrScheme name="길터 – AI 불법 주정차 판별">
      <a:dk1>
        <a:srgbClr val="1E2227"/>
      </a:dk1>
      <a:lt1>
        <a:srgbClr val="F5F3EE"/>
      </a:lt1>
      <a:dk2>
        <a:srgbClr val="545659"/>
      </a:dk2>
      <a:lt2>
        <a:srgbClr val="E0DEDA"/>
      </a:lt2>
      <a:accent1>
        <a:srgbClr val="2F6FB3"/>
      </a:accent1>
      <a:accent2>
        <a:srgbClr val="C2541E"/>
      </a:accent2>
      <a:accent3>
        <a:srgbClr val="8A5D00"/>
      </a:accent3>
      <a:accent4>
        <a:srgbClr val="F2C230"/>
      </a:accent4>
      <a:accent5>
        <a:srgbClr val="F2A900"/>
      </a:accent5>
      <a:accent6>
        <a:srgbClr val="23704A"/>
      </a:accent6>
      <a:hlink>
        <a:srgbClr val="0563C1"/>
      </a:hlink>
      <a:folHlink>
        <a:srgbClr val="954F72"/>
      </a:folHlink>
    </a:clrScheme>
    <a:fontScheme name="길터 – AI 불법 주정차 판별">
      <a:majorFont>
        <a:latin typeface="Noto Sans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1932</Words>
  <Application>Microsoft Office PowerPoint</Application>
  <PresentationFormat>와이드스크린</PresentationFormat>
  <Paragraphs>305</Paragraphs>
  <Slides>17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2" baseType="lpstr">
      <vt:lpstr>Black Han Sans</vt:lpstr>
      <vt:lpstr>Noto Sans KR</vt:lpstr>
      <vt:lpstr>맑은 고딕</vt:lpstr>
      <vt:lpstr>Arial</vt:lpstr>
      <vt:lpstr>길터 – AI 불법 주정차 판별</vt:lpstr>
      <vt:lpstr>입력 없음</vt:lpstr>
      <vt:lpstr>팀원 소개</vt:lpstr>
      <vt:lpstr>이동장벽</vt:lpstr>
      <vt:lpstr>막연한 문제의식을 문제 정의로</vt:lpstr>
      <vt:lpstr>가려진 보행자, 막힌 소방차</vt:lpstr>
      <vt:lpstr>사진 한 장이면, 판별부터 신고 안내까지</vt:lpstr>
      <vt:lpstr>AI가 구분하는 4가지 유형</vt:lpstr>
      <vt:lpstr>불법 주정차가 만드는 4가지 장벽</vt:lpstr>
      <vt:lpstr>사진 한 장이 지나가는 길</vt:lpstr>
      <vt:lpstr>모델 · 화면 · 서버, 세 부분으로 만든다</vt:lpstr>
      <vt:lpstr>장벽을 숫자로 보여 준다</vt:lpstr>
      <vt:lpstr>찍고, 판별하고, 보여 준다</vt:lpstr>
      <vt:lpstr>틀릴 수 있는 곳을 미리 막는다</vt:lpstr>
      <vt:lpstr>믿을 수 있는 판별을 위해</vt:lpstr>
      <vt:lpstr>해커톤 이후, 데모데이까지</vt:lpstr>
      <vt:lpstr>더 많은 장벽을, 더 많은 사람에게</vt:lpstr>
      <vt:lpstr>누구나 신고 대상인지 바로 알고, 막힌 길은 다시 열린다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길터 – AI 불법 주정차 판별</dc:title>
  <dc:subject/>
  <dc:creator/>
  <cp:lastModifiedBy>a</cp:lastModifiedBy>
  <cp:revision>4</cp:revision>
  <dcterms:created xsi:type="dcterms:W3CDTF">2026-10-16T02:50:18Z</dcterms:created>
  <dcterms:modified xsi:type="dcterms:W3CDTF">2026-10-16T06:15:12Z</dcterms:modified>
</cp:coreProperties>
</file>